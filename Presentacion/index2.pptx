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_rels/notesSlide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4.xml"/>
    </Relationships>
</file>

<file path=ppt/notesSlides/_rels/notesSlide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5.xml"/>
    </Relationships>
</file>

<file path=ppt/notesSlides/_rels/notesSlide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6.xml"/>
    </Relationships>
</file>

<file path=ppt/notesSlides/_rels/notesSlide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7.xml"/>
    </Relationships>
</file>

<file path=ppt/notesSlides/_rels/notesSlide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8.xml"/>
    </Relationships>
</file>

<file path=ppt/notesSlides/_rels/notesSlide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9.xml"/>
    </Relationships>
</file>

<file path=ppt/notesSlides/_rels/notesSlide1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0.xml"/>
    </Relationships>
</file>

<file path=ppt/notesSlides/_rels/notesSlide1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1.xml"/>
    </Relationships>
</file>

<file path=ppt/notesSlides/_rels/notesSlide1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2.xml"/>
    </Relationships>
</file>

<file path=ppt/notesSlides/_rels/notesSlide1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3.xml"/>
    </Relationships>
</file>

<file path=ppt/notesSlides/_rels/notesSlide1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4.xml"/>
    </Relationships>
</file>

<file path=ppt/notesSlides/_rels/notesSlide1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5.xml"/>
    </Relationships>
</file>

<file path=ppt/notesSlides/_rels/notesSlide1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6.xml"/>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6"/>
          <p:cNvSpPr/>
          <p:nvPr/>
        </p:nvSpPr>
        <p:spPr>
          <a:xfrm>
            <a:off x="4100688" y="1313341"/>
            <a:ext cx="942623" cy="199971"/>
          </a:xfrm>
          <a:prstGeom prst="roundRect">
            <a:avLst>
              <a:gd name="adj" fmla="val 50000"/>
            </a:avLst>
          </a:prstGeom>
          <a:solidFill>
            <a:srgbClr val="1A6B4C">
              <a:alpha val="20000"/>
            </a:srgbClr>
          </a:solidFill>
          <a:ln/>
        </p:spPr>
        <p:txBody>
          <a:bodyPr wrap="square" lIns="88343" tIns="29448" rIns="88343" bIns="29448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spc="15" kern="0" dirty="0">
                <a:solidFill>
                  <a:srgbClr val="2ECC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Ateje Stack v2.0</a:t>
            </a:r>
            <a:endParaRPr lang="en-US" sz="773" dirty="0"/>
          </a:p>
        </p:txBody>
      </p:sp>
      <p:sp>
        <p:nvSpPr>
          <p:cNvPr id="5" name="TextBox 9"/>
          <p:cNvSpPr/>
          <p:nvPr/>
        </p:nvSpPr>
        <p:spPr>
          <a:xfrm>
            <a:off x="2156249" y="1541860"/>
            <a:ext cx="4831502" cy="6321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4421"/>
              </a:lnSpc>
              <a:spcAft>
                <a:spcPts val="927"/>
              </a:spcAft>
              <a:buNone/>
            </a:pPr>
            <a:r>
              <a:rPr lang="en-US" sz="4251" b="1" spc="-12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Fábrica de Software</a:t>
            </a:r>
            <a:endParaRPr lang="en-US" sz="4251" dirty="0"/>
          </a:p>
        </p:txBody>
      </p:sp>
      <p:sp>
        <p:nvSpPr>
          <p:cNvPr id="6" name="TextBox 12"/>
          <p:cNvSpPr/>
          <p:nvPr/>
        </p:nvSpPr>
        <p:spPr>
          <a:xfrm>
            <a:off x="2156249" y="2134263"/>
            <a:ext cx="3901597" cy="6133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251" b="1" spc="-128" kern="0" dirty="0">
                <a:solidFill>
                  <a:srgbClr val="2ECC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B2B Offline-First</a:t>
            </a:r>
            <a:endParaRPr lang="en-US" sz="4251" dirty="0"/>
          </a:p>
        </p:txBody>
      </p:sp>
      <p:sp>
        <p:nvSpPr>
          <p:cNvPr id="7" name="TextBox 15"/>
          <p:cNvSpPr/>
          <p:nvPr/>
        </p:nvSpPr>
        <p:spPr>
          <a:xfrm>
            <a:off x="2714625" y="2861897"/>
            <a:ext cx="3714750" cy="557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 aplicaciones de escritorio y móviles que funcionan 100% sin internet, sin servidores y sin mensualidades. Para PYMEs LATAM.</a:t>
            </a:r>
            <a:endParaRPr lang="en-US" sz="1005" dirty="0"/>
          </a:p>
        </p:txBody>
      </p:sp>
      <p:sp>
        <p:nvSpPr>
          <p:cNvPr id="8" name="TextBox 19"/>
          <p:cNvSpPr/>
          <p:nvPr/>
        </p:nvSpPr>
        <p:spPr>
          <a:xfrm>
            <a:off x="3289913" y="3609488"/>
            <a:ext cx="698748" cy="220604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 wrap="square" lIns="117790" tIns="39263" rIns="117790" bIns="39263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dirty="0">
                <a:solidFill>
                  <a:srgbClr val="0F192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.exe + .apk</a:t>
            </a:r>
            <a:endParaRPr lang="en-US" sz="734" dirty="0"/>
          </a:p>
        </p:txBody>
      </p:sp>
      <p:sp>
        <p:nvSpPr>
          <p:cNvPr id="9" name="TextBox 21"/>
          <p:cNvSpPr/>
          <p:nvPr/>
        </p:nvSpPr>
        <p:spPr>
          <a:xfrm>
            <a:off x="4064834" y="3609488"/>
            <a:ext cx="716676" cy="220604"/>
          </a:xfrm>
          <a:prstGeom prst="roundRect">
            <a:avLst>
              <a:gd name="adj" fmla="val 50000"/>
            </a:avLst>
          </a:prstGeom>
          <a:noFill/>
          <a:ln w="4462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square" lIns="117790" tIns="39263" rIns="117790" bIns="39263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Pago único</a:t>
            </a:r>
            <a:endParaRPr lang="en-US" sz="734" dirty="0"/>
          </a:p>
        </p:txBody>
      </p:sp>
      <p:sp>
        <p:nvSpPr>
          <p:cNvPr id="10" name="TextBox 23"/>
          <p:cNvSpPr/>
          <p:nvPr/>
        </p:nvSpPr>
        <p:spPr>
          <a:xfrm>
            <a:off x="4857683" y="3609488"/>
            <a:ext cx="996337" cy="220604"/>
          </a:xfrm>
          <a:prstGeom prst="roundRect">
            <a:avLst>
              <a:gd name="adj" fmla="val 50000"/>
            </a:avLst>
          </a:prstGeom>
          <a:noFill/>
          <a:ln w="4462">
            <a:solidFill>
              <a:srgbClr val="FFFFFF">
                <a:alpha val="20000"/>
              </a:srgbClr>
            </a:solidFill>
            <a:prstDash val="solid"/>
          </a:ln>
        </p:spPr>
        <p:txBody>
          <a:bodyPr wrap="square" lIns="117790" tIns="39263" rIns="117790" bIns="39263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IA Offline incluida</a:t>
            </a:r>
            <a:endParaRPr lang="en-US" sz="734" dirty="0"/>
          </a:p>
        </p:txBody>
      </p:sp>
      <p:sp>
        <p:nvSpPr>
          <p:cNvPr id="11" name="Shape 27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12" name="Picture 2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13" name="TextBox 29"/>
          <p:cNvSpPr/>
          <p:nvPr/>
        </p:nvSpPr>
        <p:spPr>
          <a:xfrm>
            <a:off x="476250" y="4741055"/>
            <a:ext cx="113346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Angel Hernández Aguilera</a:t>
            </a:r>
            <a:endParaRPr lang="en-US" sz="734" dirty="0"/>
          </a:p>
        </p:txBody>
      </p:sp>
      <p:sp>
        <p:nvSpPr>
          <p:cNvPr id="14" name="TextBox 31"/>
          <p:cNvSpPr/>
          <p:nvPr/>
        </p:nvSpPr>
        <p:spPr>
          <a:xfrm>
            <a:off x="8028804" y="4741055"/>
            <a:ext cx="63894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ahaguilera.dev</a:t>
            </a:r>
            <a:endParaRPr lang="en-US" sz="7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4"/>
          <p:cNvSpPr/>
          <p:nvPr/>
        </p:nvSpPr>
        <p:spPr>
          <a:xfrm>
            <a:off x="476250" y="476250"/>
            <a:ext cx="662420" cy="1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spcAft>
                <a:spcPts val="464"/>
              </a:spcAft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PROBLEMA</a:t>
            </a:r>
            <a:endParaRPr lang="en-US" sz="734" dirty="0"/>
          </a:p>
        </p:txBody>
      </p:sp>
      <p:sp>
        <p:nvSpPr>
          <p:cNvPr id="5" name="TextBox 8"/>
          <p:cNvSpPr/>
          <p:nvPr/>
        </p:nvSpPr>
        <p:spPr>
          <a:xfrm>
            <a:off x="2818805" y="1141038"/>
            <a:ext cx="3402482" cy="6469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410" b="1" spc="-162" kern="0" dirty="0">
                <a:solidFill>
                  <a:srgbClr val="2ECC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70%</a:t>
            </a:r>
            <a:endParaRPr lang="en-US" sz="5410" dirty="0"/>
          </a:p>
        </p:txBody>
      </p:sp>
      <p:sp>
        <p:nvSpPr>
          <p:cNvPr id="6" name="TextBox 10"/>
          <p:cNvSpPr/>
          <p:nvPr/>
        </p:nvSpPr>
        <p:spPr>
          <a:xfrm>
            <a:off x="2818805" y="1864140"/>
            <a:ext cx="3506391" cy="591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las PYMEs en LATAM no usa</a:t>
            </a:r>
            <a:endParaRPr lang="en-US" sz="2087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de gestión</a:t>
            </a:r>
            <a:endParaRPr lang="en-US" sz="2087" dirty="0"/>
          </a:p>
        </p:txBody>
      </p:sp>
      <p:sp>
        <p:nvSpPr>
          <p:cNvPr id="7" name="TextBox 12"/>
          <p:cNvSpPr/>
          <p:nvPr/>
        </p:nvSpPr>
        <p:spPr>
          <a:xfrm>
            <a:off x="2857500" y="2608010"/>
            <a:ext cx="3429000" cy="371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Dependen de libretas, Excel o aplicaciones SaaS que se caen sin conexión y cuestan hasta $500 USD/mes.</a:t>
            </a:r>
            <a:endParaRPr lang="en-US" sz="1005" dirty="0"/>
          </a:p>
        </p:txBody>
      </p:sp>
      <p:sp>
        <p:nvSpPr>
          <p:cNvPr id="8" name="Shape 17"/>
          <p:cNvSpPr/>
          <p:nvPr/>
        </p:nvSpPr>
        <p:spPr>
          <a:xfrm>
            <a:off x="1714500" y="3265154"/>
            <a:ext cx="1803391" cy="737241"/>
          </a:xfrm>
          <a:prstGeom prst="roundRect">
            <a:avLst>
              <a:gd name="adj" fmla="val 7989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Box 19"/>
          <p:cNvSpPr/>
          <p:nvPr/>
        </p:nvSpPr>
        <p:spPr>
          <a:xfrm>
            <a:off x="1833089" y="3383743"/>
            <a:ext cx="1566213" cy="304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73"/>
              </a:lnSpc>
              <a:buNone/>
            </a:pPr>
            <a:r>
              <a:rPr lang="en-US" sz="2473" b="1" spc="-49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30M</a:t>
            </a:r>
            <a:endParaRPr lang="en-US" sz="2473" dirty="0"/>
          </a:p>
        </p:txBody>
      </p:sp>
      <p:sp>
        <p:nvSpPr>
          <p:cNvPr id="10" name="TextBox 21"/>
          <p:cNvSpPr/>
          <p:nvPr/>
        </p:nvSpPr>
        <p:spPr>
          <a:xfrm>
            <a:off x="1833089" y="3726656"/>
            <a:ext cx="1566213" cy="1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PYMEs en LATAM</a:t>
            </a:r>
            <a:endParaRPr lang="en-US" sz="850" dirty="0"/>
          </a:p>
        </p:txBody>
      </p:sp>
      <p:sp>
        <p:nvSpPr>
          <p:cNvPr id="11" name="Shape 24"/>
          <p:cNvSpPr/>
          <p:nvPr/>
        </p:nvSpPr>
        <p:spPr>
          <a:xfrm>
            <a:off x="3670237" y="3265154"/>
            <a:ext cx="1803459" cy="737241"/>
          </a:xfrm>
          <a:prstGeom prst="roundRect">
            <a:avLst>
              <a:gd name="adj" fmla="val 7989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Box 26"/>
          <p:cNvSpPr/>
          <p:nvPr/>
        </p:nvSpPr>
        <p:spPr>
          <a:xfrm>
            <a:off x="3788826" y="3383743"/>
            <a:ext cx="1566281" cy="304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73"/>
              </a:lnSpc>
              <a:buNone/>
            </a:pPr>
            <a:r>
              <a:rPr lang="en-US" sz="2473" b="1" spc="-49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80%</a:t>
            </a:r>
            <a:endParaRPr lang="en-US" sz="2473" dirty="0"/>
          </a:p>
        </p:txBody>
      </p:sp>
      <p:sp>
        <p:nvSpPr>
          <p:cNvPr id="13" name="TextBox 28"/>
          <p:cNvSpPr/>
          <p:nvPr/>
        </p:nvSpPr>
        <p:spPr>
          <a:xfrm>
            <a:off x="3788826" y="3726656"/>
            <a:ext cx="1566281" cy="1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sistema digital</a:t>
            </a:r>
            <a:endParaRPr lang="en-US" sz="850" dirty="0"/>
          </a:p>
        </p:txBody>
      </p:sp>
      <p:sp>
        <p:nvSpPr>
          <p:cNvPr id="14" name="Shape 31"/>
          <p:cNvSpPr/>
          <p:nvPr/>
        </p:nvSpPr>
        <p:spPr>
          <a:xfrm>
            <a:off x="5626042" y="3265154"/>
            <a:ext cx="1803391" cy="737241"/>
          </a:xfrm>
          <a:prstGeom prst="roundRect">
            <a:avLst>
              <a:gd name="adj" fmla="val 7989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Box 33"/>
          <p:cNvSpPr/>
          <p:nvPr/>
        </p:nvSpPr>
        <p:spPr>
          <a:xfrm>
            <a:off x="5744630" y="3383743"/>
            <a:ext cx="1566213" cy="304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73"/>
              </a:lnSpc>
              <a:buNone/>
            </a:pPr>
            <a:r>
              <a:rPr lang="en-US" sz="2473" b="1" spc="-49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$15B</a:t>
            </a:r>
            <a:endParaRPr lang="en-US" sz="2473" dirty="0"/>
          </a:p>
        </p:txBody>
      </p:sp>
      <p:sp>
        <p:nvSpPr>
          <p:cNvPr id="16" name="TextBox 35"/>
          <p:cNvSpPr/>
          <p:nvPr/>
        </p:nvSpPr>
        <p:spPr>
          <a:xfrm>
            <a:off x="5744630" y="3726656"/>
            <a:ext cx="1566213" cy="1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TAM anual estimado</a:t>
            </a:r>
            <a:endParaRPr lang="en-US" sz="850" dirty="0"/>
          </a:p>
        </p:txBody>
      </p:sp>
      <p:sp>
        <p:nvSpPr>
          <p:cNvPr id="17" name="Shape 39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18" name="Picture 3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19" name="TextBox 41"/>
          <p:cNvSpPr/>
          <p:nvPr/>
        </p:nvSpPr>
        <p:spPr>
          <a:xfrm>
            <a:off x="476250" y="4741055"/>
            <a:ext cx="1993823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Fuente: INEGI, CEPAL, McKinsey LATAM 2023</a:t>
            </a:r>
            <a:endParaRPr lang="en-US" sz="7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6"/>
          <p:cNvSpPr/>
          <p:nvPr/>
        </p:nvSpPr>
        <p:spPr>
          <a:xfrm>
            <a:off x="476250" y="393989"/>
            <a:ext cx="595110" cy="12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MANIFIESTO</a:t>
            </a:r>
            <a:endParaRPr lang="en-US" sz="734" dirty="0"/>
          </a:p>
        </p:txBody>
      </p:sp>
      <p:sp>
        <p:nvSpPr>
          <p:cNvPr id="5" name="TextBox 8"/>
          <p:cNvSpPr/>
          <p:nvPr/>
        </p:nvSpPr>
        <p:spPr>
          <a:xfrm>
            <a:off x="476250" y="538149"/>
            <a:ext cx="5238751" cy="29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es Ateje Stack?</a:t>
            </a:r>
            <a:endParaRPr lang="en-US" sz="2087" dirty="0"/>
          </a:p>
        </p:txBody>
      </p:sp>
      <p:sp>
        <p:nvSpPr>
          <p:cNvPr id="6" name="TextBox 10"/>
          <p:cNvSpPr/>
          <p:nvPr/>
        </p:nvSpPr>
        <p:spPr>
          <a:xfrm>
            <a:off x="476250" y="986257"/>
            <a:ext cx="3810000" cy="557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es una app. Es un meta-repo de skills que genera aplicaciones completas de escritorio (.exe) y móviles (.apk) con un stack unificado.</a:t>
            </a:r>
            <a:endParaRPr lang="en-US" sz="1005" dirty="0"/>
          </a:p>
        </p:txBody>
      </p:sp>
      <p:sp>
        <p:nvSpPr>
          <p:cNvPr id="7" name="Shape 15"/>
          <p:cNvSpPr/>
          <p:nvPr/>
        </p:nvSpPr>
        <p:spPr>
          <a:xfrm>
            <a:off x="476250" y="1771934"/>
            <a:ext cx="1987532" cy="937211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8" name="TextBox 17"/>
          <p:cNvSpPr/>
          <p:nvPr/>
        </p:nvSpPr>
        <p:spPr>
          <a:xfrm>
            <a:off x="594839" y="1890523"/>
            <a:ext cx="17503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Offline-First</a:t>
            </a:r>
            <a:endParaRPr lang="en-US" sz="1237" dirty="0"/>
          </a:p>
        </p:txBody>
      </p:sp>
      <p:sp>
        <p:nvSpPr>
          <p:cNvPr id="9" name="TextBox 19"/>
          <p:cNvSpPr/>
          <p:nvPr/>
        </p:nvSpPr>
        <p:spPr>
          <a:xfrm>
            <a:off x="594839" y="2119110"/>
            <a:ext cx="1750354" cy="47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 app funciona completa sin internet. Sincronización opcional, nunca obligatoria.</a:t>
            </a:r>
            <a:endParaRPr lang="en-US" sz="850" dirty="0"/>
          </a:p>
        </p:txBody>
      </p:sp>
      <p:sp>
        <p:nvSpPr>
          <p:cNvPr id="10" name="Shape 22"/>
          <p:cNvSpPr/>
          <p:nvPr/>
        </p:nvSpPr>
        <p:spPr>
          <a:xfrm>
            <a:off x="2578041" y="1771934"/>
            <a:ext cx="1987600" cy="937211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1" name="TextBox 24"/>
          <p:cNvSpPr/>
          <p:nvPr/>
        </p:nvSpPr>
        <p:spPr>
          <a:xfrm>
            <a:off x="2696630" y="1890523"/>
            <a:ext cx="17504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Pago Único</a:t>
            </a:r>
            <a:endParaRPr lang="en-US" sz="1237" dirty="0"/>
          </a:p>
        </p:txBody>
      </p:sp>
      <p:sp>
        <p:nvSpPr>
          <p:cNvPr id="12" name="TextBox 26"/>
          <p:cNvSpPr/>
          <p:nvPr/>
        </p:nvSpPr>
        <p:spPr>
          <a:xfrm>
            <a:off x="2696630" y="2119110"/>
            <a:ext cx="1750422" cy="47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cliente paga una vez. Sin suscripciones, sin cuotas mensuales, sin sorpresas.</a:t>
            </a:r>
            <a:endParaRPr lang="en-US" sz="850" dirty="0"/>
          </a:p>
        </p:txBody>
      </p:sp>
      <p:sp>
        <p:nvSpPr>
          <p:cNvPr id="13" name="Shape 29"/>
          <p:cNvSpPr/>
          <p:nvPr/>
        </p:nvSpPr>
        <p:spPr>
          <a:xfrm>
            <a:off x="4679901" y="1771934"/>
            <a:ext cx="1987532" cy="937211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4" name="TextBox 31"/>
          <p:cNvSpPr/>
          <p:nvPr/>
        </p:nvSpPr>
        <p:spPr>
          <a:xfrm>
            <a:off x="4798490" y="1890523"/>
            <a:ext cx="17503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Vendor Lock-In</a:t>
            </a:r>
            <a:endParaRPr lang="en-US" sz="1237" dirty="0"/>
          </a:p>
        </p:txBody>
      </p:sp>
      <p:sp>
        <p:nvSpPr>
          <p:cNvPr id="15" name="TextBox 33"/>
          <p:cNvSpPr/>
          <p:nvPr/>
        </p:nvSpPr>
        <p:spPr>
          <a:xfrm>
            <a:off x="4798490" y="2119110"/>
            <a:ext cx="1750354" cy="47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Datos cifrados con AES-256, exportables, portables. El cliente no queda atrapado.</a:t>
            </a:r>
            <a:endParaRPr lang="en-US" sz="850" dirty="0"/>
          </a:p>
        </p:txBody>
      </p:sp>
      <p:sp>
        <p:nvSpPr>
          <p:cNvPr id="16" name="Shape 36"/>
          <p:cNvSpPr/>
          <p:nvPr/>
        </p:nvSpPr>
        <p:spPr>
          <a:xfrm>
            <a:off x="476250" y="2823405"/>
            <a:ext cx="1987532" cy="937211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7" name="TextBox 38"/>
          <p:cNvSpPr/>
          <p:nvPr/>
        </p:nvSpPr>
        <p:spPr>
          <a:xfrm>
            <a:off x="594839" y="2941994"/>
            <a:ext cx="17503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Incluida</a:t>
            </a:r>
            <a:endParaRPr lang="en-US" sz="1237" dirty="0"/>
          </a:p>
        </p:txBody>
      </p:sp>
      <p:sp>
        <p:nvSpPr>
          <p:cNvPr id="18" name="TextBox 40"/>
          <p:cNvSpPr/>
          <p:nvPr/>
        </p:nvSpPr>
        <p:spPr>
          <a:xfrm>
            <a:off x="594839" y="3170580"/>
            <a:ext cx="1750354" cy="47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Cada app trae IA Jutia integrada (búsqueda, estadísticas, predicciones) sin costo adicional.</a:t>
            </a:r>
            <a:endParaRPr lang="en-US" sz="850" dirty="0"/>
          </a:p>
        </p:txBody>
      </p:sp>
      <p:sp>
        <p:nvSpPr>
          <p:cNvPr id="19" name="Shape 43"/>
          <p:cNvSpPr/>
          <p:nvPr/>
        </p:nvSpPr>
        <p:spPr>
          <a:xfrm>
            <a:off x="2578041" y="2823405"/>
            <a:ext cx="1987600" cy="937211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20" name="TextBox 45"/>
          <p:cNvSpPr/>
          <p:nvPr/>
        </p:nvSpPr>
        <p:spPr>
          <a:xfrm>
            <a:off x="2696630" y="2941994"/>
            <a:ext cx="17504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Código Compartido</a:t>
            </a:r>
            <a:endParaRPr lang="en-US" sz="1237" dirty="0"/>
          </a:p>
        </p:txBody>
      </p:sp>
      <p:sp>
        <p:nvSpPr>
          <p:cNvPr id="21" name="TextBox 47"/>
          <p:cNvSpPr/>
          <p:nvPr/>
        </p:nvSpPr>
        <p:spPr>
          <a:xfrm>
            <a:off x="2696630" y="3170580"/>
            <a:ext cx="1750422" cy="47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~95% del frontend es idéntico entre todas las apps y perfiles. Mantenimiento eficiente.</a:t>
            </a:r>
            <a:endParaRPr lang="en-US" sz="850" dirty="0"/>
          </a:p>
        </p:txBody>
      </p:sp>
      <p:sp>
        <p:nvSpPr>
          <p:cNvPr id="22" name="Shape 50"/>
          <p:cNvSpPr/>
          <p:nvPr/>
        </p:nvSpPr>
        <p:spPr>
          <a:xfrm>
            <a:off x="4679901" y="2823405"/>
            <a:ext cx="1987532" cy="937211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23" name="TextBox 52"/>
          <p:cNvSpPr/>
          <p:nvPr/>
        </p:nvSpPr>
        <p:spPr>
          <a:xfrm>
            <a:off x="4798490" y="2941994"/>
            <a:ext cx="17503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Builds Complejas</a:t>
            </a:r>
            <a:endParaRPr lang="en-US" sz="1237" dirty="0"/>
          </a:p>
        </p:txBody>
      </p:sp>
      <p:sp>
        <p:nvSpPr>
          <p:cNvPr id="24" name="TextBox 54"/>
          <p:cNvSpPr/>
          <p:nvPr/>
        </p:nvSpPr>
        <p:spPr>
          <a:xfrm>
            <a:off x="4798490" y="3170580"/>
            <a:ext cx="1750354" cy="47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perfil Essential se entrega como .exe listo para ejecutar. Doble clic y funciona.</a:t>
            </a:r>
            <a:endParaRPr lang="en-US" sz="850" dirty="0"/>
          </a:p>
        </p:txBody>
      </p:sp>
      <p:sp>
        <p:nvSpPr>
          <p:cNvPr id="25" name="Shape 58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26" name="Picture 5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27" name="TextBox 60"/>
          <p:cNvSpPr/>
          <p:nvPr/>
        </p:nvSpPr>
        <p:spPr>
          <a:xfrm>
            <a:off x="476250" y="4741055"/>
            <a:ext cx="391796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Essential → Lite (.exe) · Professional → .exe + .apk · Business → .exe + .apk + White-Label</a:t>
            </a:r>
            <a:endParaRPr lang="en-US" sz="734" dirty="0"/>
          </a:p>
        </p:txBody>
      </p:sp>
      <p:sp>
        <p:nvSpPr>
          <p:cNvPr id="28" name="TextBox 62"/>
          <p:cNvSpPr/>
          <p:nvPr/>
        </p:nvSpPr>
        <p:spPr>
          <a:xfrm>
            <a:off x="8028804" y="4741055"/>
            <a:ext cx="63894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ahaguilera.dev</a:t>
            </a:r>
            <a:endParaRPr lang="en-US" sz="7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4"/>
          <p:cNvSpPr/>
          <p:nvPr/>
        </p:nvSpPr>
        <p:spPr>
          <a:xfrm>
            <a:off x="476250" y="381000"/>
            <a:ext cx="81915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ARQUITECTURA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476250" y="573868"/>
            <a:ext cx="8191500" cy="29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Tecnológico</a:t>
            </a:r>
            <a:endParaRPr lang="en-US" sz="2087" dirty="0"/>
          </a:p>
        </p:txBody>
      </p:sp>
      <p:sp>
        <p:nvSpPr>
          <p:cNvPr id="6" name="Shape 10"/>
          <p:cNvSpPr/>
          <p:nvPr/>
        </p:nvSpPr>
        <p:spPr>
          <a:xfrm>
            <a:off x="476250" y="1060130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Box 12"/>
          <p:cNvSpPr/>
          <p:nvPr/>
        </p:nvSpPr>
        <p:spPr>
          <a:xfrm>
            <a:off x="575830" y="1159709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Alpine.js</a:t>
            </a:r>
            <a:endParaRPr lang="en-US" sz="1005" dirty="0"/>
          </a:p>
        </p:txBody>
      </p:sp>
      <p:sp>
        <p:nvSpPr>
          <p:cNvPr id="8" name="TextBox 14"/>
          <p:cNvSpPr/>
          <p:nvPr/>
        </p:nvSpPr>
        <p:spPr>
          <a:xfrm>
            <a:off x="575830" y="1333432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3.14+</a:t>
            </a:r>
            <a:endParaRPr lang="en-US" sz="734" dirty="0"/>
          </a:p>
        </p:txBody>
      </p:sp>
      <p:sp>
        <p:nvSpPr>
          <p:cNvPr id="9" name="TextBox 16"/>
          <p:cNvSpPr/>
          <p:nvPr/>
        </p:nvSpPr>
        <p:spPr>
          <a:xfrm>
            <a:off x="575830" y="1516829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Reactividad declarativa en el DOM</a:t>
            </a:r>
            <a:endParaRPr lang="en-US" sz="773" dirty="0"/>
          </a:p>
        </p:txBody>
      </p:sp>
      <p:sp>
        <p:nvSpPr>
          <p:cNvPr id="10" name="Shape 19"/>
          <p:cNvSpPr/>
          <p:nvPr/>
        </p:nvSpPr>
        <p:spPr>
          <a:xfrm>
            <a:off x="2571750" y="1060130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Box 21"/>
          <p:cNvSpPr/>
          <p:nvPr/>
        </p:nvSpPr>
        <p:spPr>
          <a:xfrm>
            <a:off x="2671329" y="1159709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Dexie.js</a:t>
            </a:r>
            <a:endParaRPr lang="en-US" sz="1005" dirty="0"/>
          </a:p>
        </p:txBody>
      </p:sp>
      <p:sp>
        <p:nvSpPr>
          <p:cNvPr id="12" name="TextBox 23"/>
          <p:cNvSpPr/>
          <p:nvPr/>
        </p:nvSpPr>
        <p:spPr>
          <a:xfrm>
            <a:off x="2671329" y="1333432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4.0+</a:t>
            </a:r>
            <a:endParaRPr lang="en-US" sz="734" dirty="0"/>
          </a:p>
        </p:txBody>
      </p:sp>
      <p:sp>
        <p:nvSpPr>
          <p:cNvPr id="13" name="TextBox 25"/>
          <p:cNvSpPr/>
          <p:nvPr/>
        </p:nvSpPr>
        <p:spPr>
          <a:xfrm>
            <a:off x="2671329" y="1516829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IndexedDB wrapper — CRUD offline</a:t>
            </a:r>
            <a:endParaRPr lang="en-US" sz="773" dirty="0"/>
          </a:p>
        </p:txBody>
      </p:sp>
      <p:sp>
        <p:nvSpPr>
          <p:cNvPr id="14" name="Shape 28"/>
          <p:cNvSpPr/>
          <p:nvPr/>
        </p:nvSpPr>
        <p:spPr>
          <a:xfrm>
            <a:off x="4667250" y="1060130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Box 30"/>
          <p:cNvSpPr/>
          <p:nvPr/>
        </p:nvSpPr>
        <p:spPr>
          <a:xfrm>
            <a:off x="4766830" y="1159709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DaisyUI</a:t>
            </a:r>
            <a:endParaRPr lang="en-US" sz="1005" dirty="0"/>
          </a:p>
        </p:txBody>
      </p:sp>
      <p:sp>
        <p:nvSpPr>
          <p:cNvPr id="16" name="TextBox 32"/>
          <p:cNvSpPr/>
          <p:nvPr/>
        </p:nvSpPr>
        <p:spPr>
          <a:xfrm>
            <a:off x="4766830" y="1333432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5.x</a:t>
            </a:r>
            <a:endParaRPr lang="en-US" sz="734" dirty="0"/>
          </a:p>
        </p:txBody>
      </p:sp>
      <p:sp>
        <p:nvSpPr>
          <p:cNvPr id="17" name="TextBox 34"/>
          <p:cNvSpPr/>
          <p:nvPr/>
        </p:nvSpPr>
        <p:spPr>
          <a:xfrm>
            <a:off x="4766830" y="1516829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Componentes UI + Tailwind CSS</a:t>
            </a:r>
            <a:endParaRPr lang="en-US" sz="773" dirty="0"/>
          </a:p>
        </p:txBody>
      </p:sp>
      <p:sp>
        <p:nvSpPr>
          <p:cNvPr id="18" name="Shape 37"/>
          <p:cNvSpPr/>
          <p:nvPr/>
        </p:nvSpPr>
        <p:spPr>
          <a:xfrm>
            <a:off x="476250" y="1854534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Box 39"/>
          <p:cNvSpPr/>
          <p:nvPr/>
        </p:nvSpPr>
        <p:spPr>
          <a:xfrm>
            <a:off x="575830" y="1954113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Chart.js</a:t>
            </a:r>
            <a:endParaRPr lang="en-US" sz="1005" dirty="0"/>
          </a:p>
        </p:txBody>
      </p:sp>
      <p:sp>
        <p:nvSpPr>
          <p:cNvPr id="20" name="TextBox 41"/>
          <p:cNvSpPr/>
          <p:nvPr/>
        </p:nvSpPr>
        <p:spPr>
          <a:xfrm>
            <a:off x="575830" y="2127836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4.4+</a:t>
            </a:r>
            <a:endParaRPr lang="en-US" sz="734" dirty="0"/>
          </a:p>
        </p:txBody>
      </p:sp>
      <p:sp>
        <p:nvSpPr>
          <p:cNvPr id="21" name="TextBox 43"/>
          <p:cNvSpPr/>
          <p:nvPr/>
        </p:nvSpPr>
        <p:spPr>
          <a:xfrm>
            <a:off x="575830" y="2311233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Gráficos interactivos offline</a:t>
            </a:r>
            <a:endParaRPr lang="en-US" sz="773" dirty="0"/>
          </a:p>
        </p:txBody>
      </p:sp>
      <p:sp>
        <p:nvSpPr>
          <p:cNvPr id="22" name="Shape 46"/>
          <p:cNvSpPr/>
          <p:nvPr/>
        </p:nvSpPr>
        <p:spPr>
          <a:xfrm>
            <a:off x="2571750" y="1854534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Box 48"/>
          <p:cNvSpPr/>
          <p:nvPr/>
        </p:nvSpPr>
        <p:spPr>
          <a:xfrm>
            <a:off x="2671329" y="1954113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NeutralinoJS</a:t>
            </a:r>
            <a:endParaRPr lang="en-US" sz="1005" dirty="0"/>
          </a:p>
        </p:txBody>
      </p:sp>
      <p:sp>
        <p:nvSpPr>
          <p:cNvPr id="24" name="TextBox 50"/>
          <p:cNvSpPr/>
          <p:nvPr/>
        </p:nvSpPr>
        <p:spPr>
          <a:xfrm>
            <a:off x="2671329" y="2127836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latest</a:t>
            </a:r>
            <a:endParaRPr lang="en-US" sz="734" dirty="0"/>
          </a:p>
        </p:txBody>
      </p:sp>
      <p:sp>
        <p:nvSpPr>
          <p:cNvPr id="25" name="TextBox 52"/>
          <p:cNvSpPr/>
          <p:nvPr/>
        </p:nvSpPr>
        <p:spPr>
          <a:xfrm>
            <a:off x="2671329" y="2311233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Runtime .exe nativo ~2MB</a:t>
            </a:r>
            <a:endParaRPr lang="en-US" sz="773" dirty="0"/>
          </a:p>
        </p:txBody>
      </p:sp>
      <p:sp>
        <p:nvSpPr>
          <p:cNvPr id="26" name="Shape 55"/>
          <p:cNvSpPr/>
          <p:nvPr/>
        </p:nvSpPr>
        <p:spPr>
          <a:xfrm>
            <a:off x="4667250" y="1854534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Box 57"/>
          <p:cNvSpPr/>
          <p:nvPr/>
        </p:nvSpPr>
        <p:spPr>
          <a:xfrm>
            <a:off x="4766830" y="1954113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Capacitor</a:t>
            </a:r>
            <a:endParaRPr lang="en-US" sz="1005" dirty="0"/>
          </a:p>
        </p:txBody>
      </p:sp>
      <p:sp>
        <p:nvSpPr>
          <p:cNvPr id="28" name="TextBox 59"/>
          <p:cNvSpPr/>
          <p:nvPr/>
        </p:nvSpPr>
        <p:spPr>
          <a:xfrm>
            <a:off x="4766830" y="2127836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latest</a:t>
            </a:r>
            <a:endParaRPr lang="en-US" sz="734" dirty="0"/>
          </a:p>
        </p:txBody>
      </p:sp>
      <p:sp>
        <p:nvSpPr>
          <p:cNvPr id="29" name="TextBox 61"/>
          <p:cNvSpPr/>
          <p:nvPr/>
        </p:nvSpPr>
        <p:spPr>
          <a:xfrm>
            <a:off x="4766830" y="2311233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Runtime .apk Android nativo</a:t>
            </a:r>
            <a:endParaRPr lang="en-US" sz="773" dirty="0"/>
          </a:p>
        </p:txBody>
      </p:sp>
      <p:sp>
        <p:nvSpPr>
          <p:cNvPr id="30" name="Shape 64"/>
          <p:cNvSpPr/>
          <p:nvPr/>
        </p:nvSpPr>
        <p:spPr>
          <a:xfrm>
            <a:off x="476250" y="2648938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Box 66"/>
          <p:cNvSpPr/>
          <p:nvPr/>
        </p:nvSpPr>
        <p:spPr>
          <a:xfrm>
            <a:off x="575830" y="2748517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CryptoJS</a:t>
            </a:r>
            <a:endParaRPr lang="en-US" sz="1005" dirty="0"/>
          </a:p>
        </p:txBody>
      </p:sp>
      <p:sp>
        <p:nvSpPr>
          <p:cNvPr id="32" name="TextBox 68"/>
          <p:cNvSpPr/>
          <p:nvPr/>
        </p:nvSpPr>
        <p:spPr>
          <a:xfrm>
            <a:off x="575830" y="2922240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4.2+</a:t>
            </a:r>
            <a:endParaRPr lang="en-US" sz="734" dirty="0"/>
          </a:p>
        </p:txBody>
      </p:sp>
      <p:sp>
        <p:nvSpPr>
          <p:cNvPr id="33" name="TextBox 70"/>
          <p:cNvSpPr/>
          <p:nvPr/>
        </p:nvSpPr>
        <p:spPr>
          <a:xfrm>
            <a:off x="575830" y="3105637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Cifrado AES de campos sensibles</a:t>
            </a:r>
            <a:endParaRPr lang="en-US" sz="773" dirty="0"/>
          </a:p>
        </p:txBody>
      </p:sp>
      <p:sp>
        <p:nvSpPr>
          <p:cNvPr id="34" name="Shape 73"/>
          <p:cNvSpPr/>
          <p:nvPr/>
        </p:nvSpPr>
        <p:spPr>
          <a:xfrm>
            <a:off x="2571750" y="2648938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Box 75"/>
          <p:cNvSpPr/>
          <p:nvPr/>
        </p:nvSpPr>
        <p:spPr>
          <a:xfrm>
            <a:off x="2671329" y="2748517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jsPDF + SheetJS</a:t>
            </a:r>
            <a:endParaRPr lang="en-US" sz="1005" dirty="0"/>
          </a:p>
        </p:txBody>
      </p:sp>
      <p:sp>
        <p:nvSpPr>
          <p:cNvPr id="36" name="TextBox 77"/>
          <p:cNvSpPr/>
          <p:nvPr/>
        </p:nvSpPr>
        <p:spPr>
          <a:xfrm>
            <a:off x="2671329" y="2922240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2.5+ / 0.20+</a:t>
            </a:r>
            <a:endParaRPr lang="en-US" sz="734" dirty="0"/>
          </a:p>
        </p:txBody>
      </p:sp>
      <p:sp>
        <p:nvSpPr>
          <p:cNvPr id="37" name="TextBox 79"/>
          <p:cNvSpPr/>
          <p:nvPr/>
        </p:nvSpPr>
        <p:spPr>
          <a:xfrm>
            <a:off x="2671329" y="3105637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 PDF y Excel offline</a:t>
            </a:r>
            <a:endParaRPr lang="en-US" sz="773" dirty="0"/>
          </a:p>
        </p:txBody>
      </p:sp>
      <p:sp>
        <p:nvSpPr>
          <p:cNvPr id="38" name="Shape 82"/>
          <p:cNvSpPr/>
          <p:nvPr/>
        </p:nvSpPr>
        <p:spPr>
          <a:xfrm>
            <a:off x="4667250" y="2648938"/>
            <a:ext cx="2000250" cy="699154"/>
          </a:xfrm>
          <a:prstGeom prst="roundRect">
            <a:avLst>
              <a:gd name="adj" fmla="val 7020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TextBox 84"/>
          <p:cNvSpPr/>
          <p:nvPr/>
        </p:nvSpPr>
        <p:spPr>
          <a:xfrm>
            <a:off x="4766830" y="2748517"/>
            <a:ext cx="1801091" cy="15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005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Jutia</a:t>
            </a:r>
            <a:endParaRPr lang="en-US" sz="1005" dirty="0"/>
          </a:p>
        </p:txBody>
      </p:sp>
      <p:sp>
        <p:nvSpPr>
          <p:cNvPr id="40" name="TextBox 86"/>
          <p:cNvSpPr/>
          <p:nvPr/>
        </p:nvSpPr>
        <p:spPr>
          <a:xfrm>
            <a:off x="4766830" y="2922240"/>
            <a:ext cx="180109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Lite / Full</a:t>
            </a:r>
            <a:endParaRPr lang="en-US" sz="734" dirty="0"/>
          </a:p>
        </p:txBody>
      </p:sp>
      <p:sp>
        <p:nvSpPr>
          <p:cNvPr id="41" name="TextBox 88"/>
          <p:cNvSpPr/>
          <p:nvPr/>
        </p:nvSpPr>
        <p:spPr>
          <a:xfrm>
            <a:off x="4766830" y="3105637"/>
            <a:ext cx="1801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FlexSearch + Transformers + OCR</a:t>
            </a:r>
            <a:endParaRPr lang="en-US" sz="773" dirty="0"/>
          </a:p>
        </p:txBody>
      </p:sp>
      <p:sp>
        <p:nvSpPr>
          <p:cNvPr id="42" name="Shape 92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43" name="Picture 9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44" name="TextBox 94"/>
          <p:cNvSpPr/>
          <p:nvPr/>
        </p:nvSpPr>
        <p:spPr>
          <a:xfrm>
            <a:off x="476250" y="4741055"/>
            <a:ext cx="160125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 local · Sin CDN · Sin servidores</a:t>
            </a:r>
            <a:endParaRPr lang="en-US" sz="7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4"/>
          <p:cNvSpPr/>
          <p:nvPr/>
        </p:nvSpPr>
        <p:spPr>
          <a:xfrm>
            <a:off x="476250" y="381000"/>
            <a:ext cx="81915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CATÁLOGO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476250" y="573868"/>
            <a:ext cx="8191500" cy="29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AHApps</a:t>
            </a:r>
            <a:endParaRPr lang="en-US" sz="2087" dirty="0"/>
          </a:p>
        </p:txBody>
      </p:sp>
      <p:sp>
        <p:nvSpPr>
          <p:cNvPr id="6" name="TextBox 8"/>
          <p:cNvSpPr/>
          <p:nvPr/>
        </p:nvSpPr>
        <p:spPr>
          <a:xfrm>
            <a:off x="476250" y="1021976"/>
            <a:ext cx="3810000" cy="371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Cada app incluye spec técnica, módulos, tablas Dexie, pricing y mensaje WhatsApp pre-escrito para venta directa.</a:t>
            </a:r>
            <a:endParaRPr lang="en-US" sz="1005" dirty="0"/>
          </a:p>
        </p:txBody>
      </p:sp>
      <p:sp>
        <p:nvSpPr>
          <p:cNvPr id="7" name="Shape 12"/>
          <p:cNvSpPr/>
          <p:nvPr/>
        </p:nvSpPr>
        <p:spPr>
          <a:xfrm>
            <a:off x="476250" y="1545715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556752" y="1626218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POS</a:t>
            </a:r>
            <a:endParaRPr lang="en-US" sz="927" dirty="0"/>
          </a:p>
        </p:txBody>
      </p:sp>
      <p:sp>
        <p:nvSpPr>
          <p:cNvPr id="9" name="TextBox 16"/>
          <p:cNvSpPr/>
          <p:nvPr/>
        </p:nvSpPr>
        <p:spPr>
          <a:xfrm>
            <a:off x="556752" y="1788102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Punto de venta offline</a:t>
            </a:r>
            <a:endParaRPr lang="en-US" sz="734" dirty="0"/>
          </a:p>
        </p:txBody>
      </p:sp>
      <p:sp>
        <p:nvSpPr>
          <p:cNvPr id="10" name="Shape 19"/>
          <p:cNvSpPr/>
          <p:nvPr/>
        </p:nvSpPr>
        <p:spPr>
          <a:xfrm>
            <a:off x="2538399" y="1545715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1" name="TextBox 21"/>
          <p:cNvSpPr/>
          <p:nvPr/>
        </p:nvSpPr>
        <p:spPr>
          <a:xfrm>
            <a:off x="2618902" y="1626218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Inventario</a:t>
            </a:r>
            <a:endParaRPr lang="en-US" sz="927" dirty="0"/>
          </a:p>
        </p:txBody>
      </p:sp>
      <p:sp>
        <p:nvSpPr>
          <p:cNvPr id="12" name="TextBox 23"/>
          <p:cNvSpPr/>
          <p:nvPr/>
        </p:nvSpPr>
        <p:spPr>
          <a:xfrm>
            <a:off x="2618902" y="1788102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de stock</a:t>
            </a:r>
            <a:endParaRPr lang="en-US" sz="734" dirty="0"/>
          </a:p>
        </p:txBody>
      </p:sp>
      <p:sp>
        <p:nvSpPr>
          <p:cNvPr id="13" name="Shape 26"/>
          <p:cNvSpPr/>
          <p:nvPr/>
        </p:nvSpPr>
        <p:spPr>
          <a:xfrm>
            <a:off x="4600548" y="1545715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4" name="TextBox 28"/>
          <p:cNvSpPr/>
          <p:nvPr/>
        </p:nvSpPr>
        <p:spPr>
          <a:xfrm>
            <a:off x="4681051" y="1626218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Comanda</a:t>
            </a:r>
            <a:endParaRPr lang="en-US" sz="927" dirty="0"/>
          </a:p>
        </p:txBody>
      </p:sp>
      <p:sp>
        <p:nvSpPr>
          <p:cNvPr id="15" name="TextBox 30"/>
          <p:cNvSpPr/>
          <p:nvPr/>
        </p:nvSpPr>
        <p:spPr>
          <a:xfrm>
            <a:off x="4681051" y="1788102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Pedidos restaurante</a:t>
            </a:r>
            <a:endParaRPr lang="en-US" sz="734" dirty="0"/>
          </a:p>
        </p:txBody>
      </p:sp>
      <p:sp>
        <p:nvSpPr>
          <p:cNvPr id="16" name="Shape 33"/>
          <p:cNvSpPr/>
          <p:nvPr/>
        </p:nvSpPr>
        <p:spPr>
          <a:xfrm>
            <a:off x="6662697" y="1545715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7" name="TextBox 35"/>
          <p:cNvSpPr/>
          <p:nvPr/>
        </p:nvSpPr>
        <p:spPr>
          <a:xfrm>
            <a:off x="6743200" y="1626218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Citas</a:t>
            </a:r>
            <a:endParaRPr lang="en-US" sz="927" dirty="0"/>
          </a:p>
        </p:txBody>
      </p:sp>
      <p:sp>
        <p:nvSpPr>
          <p:cNvPr id="18" name="TextBox 37"/>
          <p:cNvSpPr/>
          <p:nvPr/>
        </p:nvSpPr>
        <p:spPr>
          <a:xfrm>
            <a:off x="6743200" y="1788102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Agenda visual</a:t>
            </a:r>
            <a:endParaRPr lang="en-US" sz="734" dirty="0"/>
          </a:p>
        </p:txBody>
      </p:sp>
      <p:sp>
        <p:nvSpPr>
          <p:cNvPr id="19" name="Shape 40"/>
          <p:cNvSpPr/>
          <p:nvPr/>
        </p:nvSpPr>
        <p:spPr>
          <a:xfrm>
            <a:off x="476250" y="2061473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20" name="TextBox 42"/>
          <p:cNvSpPr/>
          <p:nvPr/>
        </p:nvSpPr>
        <p:spPr>
          <a:xfrm>
            <a:off x="556752" y="2141975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Rx</a:t>
            </a:r>
            <a:endParaRPr lang="en-US" sz="927" dirty="0"/>
          </a:p>
        </p:txBody>
      </p:sp>
      <p:sp>
        <p:nvSpPr>
          <p:cNvPr id="21" name="TextBox 44"/>
          <p:cNvSpPr/>
          <p:nvPr/>
        </p:nvSpPr>
        <p:spPr>
          <a:xfrm>
            <a:off x="556752" y="2303859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Recetas médicas</a:t>
            </a:r>
            <a:endParaRPr lang="en-US" sz="734" dirty="0"/>
          </a:p>
        </p:txBody>
      </p:sp>
      <p:sp>
        <p:nvSpPr>
          <p:cNvPr id="22" name="Shape 47"/>
          <p:cNvSpPr/>
          <p:nvPr/>
        </p:nvSpPr>
        <p:spPr>
          <a:xfrm>
            <a:off x="2538399" y="2061473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23" name="TextBox 49"/>
          <p:cNvSpPr/>
          <p:nvPr/>
        </p:nvSpPr>
        <p:spPr>
          <a:xfrm>
            <a:off x="2618902" y="2141975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CRM</a:t>
            </a:r>
            <a:endParaRPr lang="en-US" sz="927" dirty="0"/>
          </a:p>
        </p:txBody>
      </p:sp>
      <p:sp>
        <p:nvSpPr>
          <p:cNvPr id="24" name="TextBox 51"/>
          <p:cNvSpPr/>
          <p:nvPr/>
        </p:nvSpPr>
        <p:spPr>
          <a:xfrm>
            <a:off x="2618902" y="2303859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 Kanban</a:t>
            </a:r>
            <a:endParaRPr lang="en-US" sz="734" dirty="0"/>
          </a:p>
        </p:txBody>
      </p:sp>
      <p:sp>
        <p:nvSpPr>
          <p:cNvPr id="25" name="Shape 54"/>
          <p:cNvSpPr/>
          <p:nvPr/>
        </p:nvSpPr>
        <p:spPr>
          <a:xfrm>
            <a:off x="4600548" y="2061473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26" name="TextBox 56"/>
          <p:cNvSpPr/>
          <p:nvPr/>
        </p:nvSpPr>
        <p:spPr>
          <a:xfrm>
            <a:off x="4681051" y="2141975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Gastos</a:t>
            </a:r>
            <a:endParaRPr lang="en-US" sz="927" dirty="0"/>
          </a:p>
        </p:txBody>
      </p:sp>
      <p:sp>
        <p:nvSpPr>
          <p:cNvPr id="27" name="TextBox 58"/>
          <p:cNvSpPr/>
          <p:nvPr/>
        </p:nvSpPr>
        <p:spPr>
          <a:xfrm>
            <a:off x="4681051" y="2303859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financiero</a:t>
            </a:r>
            <a:endParaRPr lang="en-US" sz="734" dirty="0"/>
          </a:p>
        </p:txBody>
      </p:sp>
      <p:sp>
        <p:nvSpPr>
          <p:cNvPr id="28" name="Shape 61"/>
          <p:cNvSpPr/>
          <p:nvPr/>
        </p:nvSpPr>
        <p:spPr>
          <a:xfrm>
            <a:off x="6662697" y="2061473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29" name="TextBox 63"/>
          <p:cNvSpPr/>
          <p:nvPr/>
        </p:nvSpPr>
        <p:spPr>
          <a:xfrm>
            <a:off x="6743200" y="2141975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Contactos</a:t>
            </a:r>
            <a:endParaRPr lang="en-US" sz="927" dirty="0"/>
          </a:p>
        </p:txBody>
      </p:sp>
      <p:sp>
        <p:nvSpPr>
          <p:cNvPr id="30" name="TextBox 65"/>
          <p:cNvSpPr/>
          <p:nvPr/>
        </p:nvSpPr>
        <p:spPr>
          <a:xfrm>
            <a:off x="6743200" y="2303859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Agenda inteligente</a:t>
            </a:r>
            <a:endParaRPr lang="en-US" sz="734" dirty="0"/>
          </a:p>
        </p:txBody>
      </p:sp>
      <p:sp>
        <p:nvSpPr>
          <p:cNvPr id="31" name="Shape 68"/>
          <p:cNvSpPr/>
          <p:nvPr/>
        </p:nvSpPr>
        <p:spPr>
          <a:xfrm>
            <a:off x="476250" y="2577230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32" name="TextBox 70"/>
          <p:cNvSpPr/>
          <p:nvPr/>
        </p:nvSpPr>
        <p:spPr>
          <a:xfrm>
            <a:off x="556752" y="2657732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PreFactura</a:t>
            </a:r>
            <a:endParaRPr lang="en-US" sz="927" dirty="0"/>
          </a:p>
        </p:txBody>
      </p:sp>
      <p:sp>
        <p:nvSpPr>
          <p:cNvPr id="33" name="TextBox 72"/>
          <p:cNvSpPr/>
          <p:nvPr/>
        </p:nvSpPr>
        <p:spPr>
          <a:xfrm>
            <a:off x="556752" y="2819616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Cotizaciones + Facturas</a:t>
            </a:r>
            <a:endParaRPr lang="en-US" sz="734" dirty="0"/>
          </a:p>
        </p:txBody>
      </p:sp>
      <p:sp>
        <p:nvSpPr>
          <p:cNvPr id="34" name="Shape 75"/>
          <p:cNvSpPr/>
          <p:nvPr/>
        </p:nvSpPr>
        <p:spPr>
          <a:xfrm>
            <a:off x="2538399" y="2577230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35" name="TextBox 77"/>
          <p:cNvSpPr/>
          <p:nvPr/>
        </p:nvSpPr>
        <p:spPr>
          <a:xfrm>
            <a:off x="2618902" y="2657732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Campo</a:t>
            </a:r>
            <a:endParaRPr lang="en-US" sz="927" dirty="0"/>
          </a:p>
        </p:txBody>
      </p:sp>
      <p:sp>
        <p:nvSpPr>
          <p:cNvPr id="36" name="TextBox 79"/>
          <p:cNvSpPr/>
          <p:nvPr/>
        </p:nvSpPr>
        <p:spPr>
          <a:xfrm>
            <a:off x="2618902" y="2819616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Registro agrícola</a:t>
            </a:r>
            <a:endParaRPr lang="en-US" sz="734" dirty="0"/>
          </a:p>
        </p:txBody>
      </p:sp>
      <p:sp>
        <p:nvSpPr>
          <p:cNvPr id="37" name="Shape 82"/>
          <p:cNvSpPr/>
          <p:nvPr/>
        </p:nvSpPr>
        <p:spPr>
          <a:xfrm>
            <a:off x="4600548" y="2577230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38" name="TextBox 84"/>
          <p:cNvSpPr/>
          <p:nvPr/>
        </p:nvSpPr>
        <p:spPr>
          <a:xfrm>
            <a:off x="4681051" y="2657732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Obra</a:t>
            </a:r>
            <a:endParaRPr lang="en-US" sz="927" dirty="0"/>
          </a:p>
        </p:txBody>
      </p:sp>
      <p:sp>
        <p:nvSpPr>
          <p:cNvPr id="39" name="TextBox 86"/>
          <p:cNvSpPr/>
          <p:nvPr/>
        </p:nvSpPr>
        <p:spPr>
          <a:xfrm>
            <a:off x="4681051" y="2819616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de construcción</a:t>
            </a:r>
            <a:endParaRPr lang="en-US" sz="734" dirty="0"/>
          </a:p>
        </p:txBody>
      </p:sp>
      <p:sp>
        <p:nvSpPr>
          <p:cNvPr id="40" name="Shape 89"/>
          <p:cNvSpPr/>
          <p:nvPr/>
        </p:nvSpPr>
        <p:spPr>
          <a:xfrm>
            <a:off x="6662697" y="2577230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41" name="TextBox 91"/>
          <p:cNvSpPr/>
          <p:nvPr/>
        </p:nvSpPr>
        <p:spPr>
          <a:xfrm>
            <a:off x="6743200" y="2657732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Checklist</a:t>
            </a:r>
            <a:endParaRPr lang="en-US" sz="927" dirty="0"/>
          </a:p>
        </p:txBody>
      </p:sp>
      <p:sp>
        <p:nvSpPr>
          <p:cNvPr id="42" name="TextBox 93"/>
          <p:cNvSpPr/>
          <p:nvPr/>
        </p:nvSpPr>
        <p:spPr>
          <a:xfrm>
            <a:off x="6743200" y="2819616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Inspecciones técnicas</a:t>
            </a:r>
            <a:endParaRPr lang="en-US" sz="734" dirty="0"/>
          </a:p>
        </p:txBody>
      </p:sp>
      <p:sp>
        <p:nvSpPr>
          <p:cNvPr id="43" name="Shape 96"/>
          <p:cNvSpPr/>
          <p:nvPr/>
        </p:nvSpPr>
        <p:spPr>
          <a:xfrm>
            <a:off x="476250" y="3092987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44" name="TextBox 98"/>
          <p:cNvSpPr/>
          <p:nvPr/>
        </p:nvSpPr>
        <p:spPr>
          <a:xfrm>
            <a:off x="556752" y="3173489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Flota</a:t>
            </a:r>
            <a:endParaRPr lang="en-US" sz="927" dirty="0"/>
          </a:p>
        </p:txBody>
      </p:sp>
      <p:sp>
        <p:nvSpPr>
          <p:cNvPr id="45" name="TextBox 100"/>
          <p:cNvSpPr/>
          <p:nvPr/>
        </p:nvSpPr>
        <p:spPr>
          <a:xfrm>
            <a:off x="556752" y="3335374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vehicular</a:t>
            </a:r>
            <a:endParaRPr lang="en-US" sz="734" dirty="0"/>
          </a:p>
        </p:txBody>
      </p:sp>
      <p:sp>
        <p:nvSpPr>
          <p:cNvPr id="46" name="Shape 103"/>
          <p:cNvSpPr/>
          <p:nvPr/>
        </p:nvSpPr>
        <p:spPr>
          <a:xfrm>
            <a:off x="2538399" y="3092987"/>
            <a:ext cx="2005053" cy="458661"/>
          </a:xfrm>
          <a:prstGeom prst="roundRect">
            <a:avLst>
              <a:gd name="adj" fmla="val 12841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47" name="TextBox 105"/>
          <p:cNvSpPr/>
          <p:nvPr/>
        </p:nvSpPr>
        <p:spPr>
          <a:xfrm>
            <a:off x="2618902" y="3173489"/>
            <a:ext cx="184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Asistencia</a:t>
            </a:r>
            <a:endParaRPr lang="en-US" sz="927" dirty="0"/>
          </a:p>
        </p:txBody>
      </p:sp>
      <p:sp>
        <p:nvSpPr>
          <p:cNvPr id="48" name="TextBox 107"/>
          <p:cNvSpPr/>
          <p:nvPr/>
        </p:nvSpPr>
        <p:spPr>
          <a:xfrm>
            <a:off x="2618902" y="3335374"/>
            <a:ext cx="18440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 de empleados</a:t>
            </a:r>
            <a:endParaRPr lang="en-US" sz="734" dirty="0"/>
          </a:p>
        </p:txBody>
      </p:sp>
      <p:sp>
        <p:nvSpPr>
          <p:cNvPr id="49" name="Shape 111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50" name="Picture 11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51" name="TextBox 113"/>
          <p:cNvSpPr/>
          <p:nvPr/>
        </p:nvSpPr>
        <p:spPr>
          <a:xfrm>
            <a:off x="476250" y="4741055"/>
            <a:ext cx="339740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Transversales: AHA Gastos + AHA Contactos aparecen en todas las verticales</a:t>
            </a:r>
            <a:endParaRPr lang="en-US" sz="734" dirty="0"/>
          </a:p>
        </p:txBody>
      </p:sp>
      <p:sp>
        <p:nvSpPr>
          <p:cNvPr id="52" name="TextBox 115"/>
          <p:cNvSpPr/>
          <p:nvPr/>
        </p:nvSpPr>
        <p:spPr>
          <a:xfrm>
            <a:off x="8327205" y="4741055"/>
            <a:ext cx="34054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 apps</a:t>
            </a:r>
            <a:endParaRPr lang="en-US" sz="7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6"/>
          <p:cNvSpPr/>
          <p:nvPr/>
        </p:nvSpPr>
        <p:spPr>
          <a:xfrm>
            <a:off x="381000" y="1399526"/>
            <a:ext cx="395287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INSIGNIA</a:t>
            </a:r>
            <a:endParaRPr lang="en-US" sz="734" dirty="0"/>
          </a:p>
        </p:txBody>
      </p:sp>
      <p:sp>
        <p:nvSpPr>
          <p:cNvPr id="5" name="TextBox 8"/>
          <p:cNvSpPr/>
          <p:nvPr/>
        </p:nvSpPr>
        <p:spPr>
          <a:xfrm>
            <a:off x="381000" y="1592393"/>
            <a:ext cx="3952875" cy="88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POS</a:t>
            </a:r>
            <a:endParaRPr lang="en-US" sz="2087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Inventario</a:t>
            </a:r>
            <a:endParaRPr lang="en-US" sz="2087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Comanda</a:t>
            </a:r>
            <a:endParaRPr lang="en-US" sz="2087" dirty="0"/>
          </a:p>
        </p:txBody>
      </p:sp>
      <p:sp>
        <p:nvSpPr>
          <p:cNvPr id="6" name="TextBox 10"/>
          <p:cNvSpPr/>
          <p:nvPr/>
        </p:nvSpPr>
        <p:spPr>
          <a:xfrm>
            <a:off x="381000" y="2593939"/>
            <a:ext cx="2143125" cy="78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Las apps con mayor mercado y menor competencia offline. POS compite con suscripciones de $195+/mes. Inventario resuelve el control de stock que el 80% de tiendas no tiene.</a:t>
            </a:r>
            <a:endParaRPr lang="en-US" sz="850" dirty="0"/>
          </a:p>
        </p:txBody>
      </p:sp>
      <p:sp>
        <p:nvSpPr>
          <p:cNvPr id="7" name="TextBox 14"/>
          <p:cNvSpPr/>
          <p:nvPr/>
        </p:nvSpPr>
        <p:spPr>
          <a:xfrm>
            <a:off x="381000" y="3532030"/>
            <a:ext cx="816390" cy="211945"/>
          </a:xfrm>
          <a:prstGeom prst="roundRect">
            <a:avLst>
              <a:gd name="adj" fmla="val 50000"/>
            </a:avLst>
          </a:prstGeom>
          <a:solidFill>
            <a:srgbClr val="1A6B4C"/>
          </a:solidFill>
          <a:ln/>
        </p:spPr>
        <p:txBody>
          <a:bodyPr wrap="square" lIns="117790" tIns="39263" rIns="117790" bIns="39263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$49 Essential</a:t>
            </a:r>
            <a:endParaRPr lang="en-US" sz="734" dirty="0"/>
          </a:p>
        </p:txBody>
      </p:sp>
      <p:sp>
        <p:nvSpPr>
          <p:cNvPr id="8" name="TextBox 16"/>
          <p:cNvSpPr/>
          <p:nvPr/>
        </p:nvSpPr>
        <p:spPr>
          <a:xfrm>
            <a:off x="1273563" y="3532030"/>
            <a:ext cx="840473" cy="211945"/>
          </a:xfrm>
          <a:prstGeom prst="rect">
            <a:avLst/>
          </a:prstGeom>
          <a:noFill/>
          <a:ln w="4462">
            <a:solidFill>
              <a:srgbClr val="1A6B4C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$99 Professional</a:t>
            </a:r>
            <a:endParaRPr lang="en-US" sz="850" dirty="0"/>
          </a:p>
        </p:txBody>
      </p:sp>
      <p:sp>
        <p:nvSpPr>
          <p:cNvPr id="9" name="Shape 20"/>
          <p:cNvSpPr/>
          <p:nvPr/>
        </p:nvSpPr>
        <p:spPr>
          <a:xfrm>
            <a:off x="4572000" y="0"/>
            <a:ext cx="4571999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Picture 22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1391678"/>
            <a:ext cx="4191000" cy="2360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8"/>
          <p:cNvSpPr/>
          <p:nvPr/>
        </p:nvSpPr>
        <p:spPr>
          <a:xfrm>
            <a:off x="381000" y="1827542"/>
            <a:ext cx="271780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SALUD &amp; SERVICIOS</a:t>
            </a:r>
            <a:endParaRPr lang="en-US" sz="734" dirty="0"/>
          </a:p>
        </p:txBody>
      </p:sp>
      <p:sp>
        <p:nvSpPr>
          <p:cNvPr id="5" name="TextBox 10"/>
          <p:cNvSpPr/>
          <p:nvPr/>
        </p:nvSpPr>
        <p:spPr>
          <a:xfrm>
            <a:off x="381000" y="2001400"/>
            <a:ext cx="2717805" cy="78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Citas</a:t>
            </a:r>
            <a:endParaRPr lang="en-US" sz="1855" dirty="0"/>
          </a:p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Rx</a:t>
            </a:r>
            <a:endParaRPr lang="en-US" sz="1855" dirty="0"/>
          </a:p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 CRM</a:t>
            </a:r>
            <a:endParaRPr lang="en-US" sz="1855" dirty="0"/>
          </a:p>
        </p:txBody>
      </p:sp>
      <p:sp>
        <p:nvSpPr>
          <p:cNvPr id="6" name="TextBox 12"/>
          <p:cNvSpPr/>
          <p:nvPr/>
        </p:nvSpPr>
        <p:spPr>
          <a:xfrm>
            <a:off x="381000" y="2866024"/>
            <a:ext cx="1666875" cy="449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812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Agenda visual para barberías y consultorios. Recetas médicas con PDF. Pipeline Kanban para ventas.</a:t>
            </a:r>
            <a:endParaRPr lang="en-US" sz="812" dirty="0"/>
          </a:p>
        </p:txBody>
      </p:sp>
      <p:pic>
        <p:nvPicPr>
          <p:cNvPr id="7" name="Picture 17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064" y="1807721"/>
            <a:ext cx="2717805" cy="1527991"/>
          </a:xfrm>
          <a:prstGeom prst="rect">
            <a:avLst/>
          </a:prstGeom>
        </p:spPr>
      </p:pic>
      <p:pic>
        <p:nvPicPr>
          <p:cNvPr id="8" name="Picture 22" descr="__type_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128" y="1807721"/>
            <a:ext cx="2717804" cy="1527991"/>
          </a:xfrm>
          <a:prstGeom prst="rect">
            <a:avLst/>
          </a:prstGeom>
        </p:spPr>
      </p:pic>
      <p:sp>
        <p:nvSpPr>
          <p:cNvPr id="9" name="Shape 26"/>
          <p:cNvSpPr/>
          <p:nvPr/>
        </p:nvSpPr>
        <p:spPr>
          <a:xfrm>
            <a:off x="381000" y="4641476"/>
            <a:ext cx="8382000" cy="235352"/>
          </a:xfrm>
          <a:prstGeom prst="rect">
            <a:avLst/>
          </a:prstGeom>
          <a:noFill/>
          <a:ln/>
        </p:spPr>
      </p:sp>
      <p:pic>
        <p:nvPicPr>
          <p:cNvPr id="10" name="Picture 2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" y="4641476"/>
            <a:ext cx="8382000" cy="235352"/>
          </a:xfrm>
          <a:prstGeom prst="rect">
            <a:avLst/>
          </a:prstGeom>
        </p:spPr>
      </p:pic>
      <p:sp>
        <p:nvSpPr>
          <p:cNvPr id="11" name="TextBox 28"/>
          <p:cNvSpPr/>
          <p:nvPr/>
        </p:nvSpPr>
        <p:spPr>
          <a:xfrm>
            <a:off x="381000" y="4741055"/>
            <a:ext cx="2009112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Kit Belleza: $179 Essential · $349 Professional</a:t>
            </a:r>
            <a:endParaRPr lang="en-US" sz="734" dirty="0"/>
          </a:p>
        </p:txBody>
      </p:sp>
      <p:sp>
        <p:nvSpPr>
          <p:cNvPr id="12" name="TextBox 30"/>
          <p:cNvSpPr/>
          <p:nvPr/>
        </p:nvSpPr>
        <p:spPr>
          <a:xfrm>
            <a:off x="6819981" y="4741055"/>
            <a:ext cx="194301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Kit Salud: $199 Essential · $399 Professional</a:t>
            </a:r>
            <a:endParaRPr lang="en-US" sz="7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8"/>
          <p:cNvSpPr/>
          <p:nvPr/>
        </p:nvSpPr>
        <p:spPr>
          <a:xfrm>
            <a:off x="476250" y="1063918"/>
            <a:ext cx="477772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OFFLINE</a:t>
            </a:r>
            <a:endParaRPr lang="en-US" sz="734" dirty="0"/>
          </a:p>
        </p:txBody>
      </p:sp>
      <p:sp>
        <p:nvSpPr>
          <p:cNvPr id="5" name="TextBox 10"/>
          <p:cNvSpPr/>
          <p:nvPr/>
        </p:nvSpPr>
        <p:spPr>
          <a:xfrm>
            <a:off x="476250" y="1256786"/>
            <a:ext cx="4777721" cy="29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87" b="1" spc="-31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Jutia Engine</a:t>
            </a:r>
            <a:endParaRPr lang="en-US" sz="2087" dirty="0"/>
          </a:p>
        </p:txBody>
      </p:sp>
      <p:sp>
        <p:nvSpPr>
          <p:cNvPr id="6" name="TextBox 12"/>
          <p:cNvSpPr/>
          <p:nvPr/>
        </p:nvSpPr>
        <p:spPr>
          <a:xfrm>
            <a:off x="476250" y="1647798"/>
            <a:ext cx="2476500" cy="557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Motor de IA transversal que se inyecta en cada AHApp. Corre 100% local. Sin APIs externas. Sin costo recurrente.</a:t>
            </a:r>
            <a:endParaRPr lang="en-US" sz="1005" dirty="0"/>
          </a:p>
        </p:txBody>
      </p:sp>
      <p:sp>
        <p:nvSpPr>
          <p:cNvPr id="7" name="Shape 16"/>
          <p:cNvSpPr/>
          <p:nvPr/>
        </p:nvSpPr>
        <p:spPr>
          <a:xfrm>
            <a:off x="476250" y="2338225"/>
            <a:ext cx="1162077" cy="556347"/>
          </a:xfrm>
          <a:prstGeom prst="roundRect">
            <a:avLst>
              <a:gd name="adj" fmla="val 10586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8" name="TextBox 18"/>
          <p:cNvSpPr/>
          <p:nvPr/>
        </p:nvSpPr>
        <p:spPr>
          <a:xfrm>
            <a:off x="547214" y="2409189"/>
            <a:ext cx="1020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FlexSearch</a:t>
            </a:r>
            <a:endParaRPr lang="en-US" sz="927" dirty="0"/>
          </a:p>
        </p:txBody>
      </p:sp>
      <p:sp>
        <p:nvSpPr>
          <p:cNvPr id="9" name="TextBox 20"/>
          <p:cNvSpPr/>
          <p:nvPr/>
        </p:nvSpPr>
        <p:spPr>
          <a:xfrm>
            <a:off x="547214" y="2552064"/>
            <a:ext cx="102014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Búsqueda instantánea</a:t>
            </a:r>
            <a:endParaRPr lang="en-US" sz="734" dirty="0"/>
          </a:p>
        </p:txBody>
      </p:sp>
      <p:sp>
        <p:nvSpPr>
          <p:cNvPr id="10" name="Shape 23"/>
          <p:cNvSpPr/>
          <p:nvPr/>
        </p:nvSpPr>
        <p:spPr>
          <a:xfrm>
            <a:off x="1695423" y="2338225"/>
            <a:ext cx="1162077" cy="556347"/>
          </a:xfrm>
          <a:prstGeom prst="roundRect">
            <a:avLst>
              <a:gd name="adj" fmla="val 10586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1" name="TextBox 25"/>
          <p:cNvSpPr/>
          <p:nvPr/>
        </p:nvSpPr>
        <p:spPr>
          <a:xfrm>
            <a:off x="1766387" y="2409189"/>
            <a:ext cx="1020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Chat + Stats</a:t>
            </a:r>
            <a:endParaRPr lang="en-US" sz="927" dirty="0"/>
          </a:p>
        </p:txBody>
      </p:sp>
      <p:sp>
        <p:nvSpPr>
          <p:cNvPr id="12" name="TextBox 27"/>
          <p:cNvSpPr/>
          <p:nvPr/>
        </p:nvSpPr>
        <p:spPr>
          <a:xfrm>
            <a:off x="1766387" y="2552064"/>
            <a:ext cx="1020149" cy="2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Preguntas en lenguaje natural</a:t>
            </a:r>
            <a:endParaRPr lang="en-US" sz="734" dirty="0"/>
          </a:p>
        </p:txBody>
      </p:sp>
      <p:sp>
        <p:nvSpPr>
          <p:cNvPr id="13" name="Shape 30"/>
          <p:cNvSpPr/>
          <p:nvPr/>
        </p:nvSpPr>
        <p:spPr>
          <a:xfrm>
            <a:off x="476250" y="2951668"/>
            <a:ext cx="1162077" cy="556346"/>
          </a:xfrm>
          <a:prstGeom prst="roundRect">
            <a:avLst>
              <a:gd name="adj" fmla="val 10586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4" name="TextBox 32"/>
          <p:cNvSpPr/>
          <p:nvPr/>
        </p:nvSpPr>
        <p:spPr>
          <a:xfrm>
            <a:off x="547214" y="3022632"/>
            <a:ext cx="1020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OCR</a:t>
            </a:r>
            <a:endParaRPr lang="en-US" sz="927" dirty="0"/>
          </a:p>
        </p:txBody>
      </p:sp>
      <p:sp>
        <p:nvSpPr>
          <p:cNvPr id="15" name="TextBox 34"/>
          <p:cNvSpPr/>
          <p:nvPr/>
        </p:nvSpPr>
        <p:spPr>
          <a:xfrm>
            <a:off x="547214" y="3165506"/>
            <a:ext cx="1020149" cy="2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Extracción de texto (Full)</a:t>
            </a:r>
            <a:endParaRPr lang="en-US" sz="734" dirty="0"/>
          </a:p>
        </p:txBody>
      </p:sp>
      <p:sp>
        <p:nvSpPr>
          <p:cNvPr id="16" name="Shape 37"/>
          <p:cNvSpPr/>
          <p:nvPr/>
        </p:nvSpPr>
        <p:spPr>
          <a:xfrm>
            <a:off x="1695423" y="2951668"/>
            <a:ext cx="1162077" cy="556346"/>
          </a:xfrm>
          <a:prstGeom prst="roundRect">
            <a:avLst>
              <a:gd name="adj" fmla="val 10586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17" name="TextBox 39"/>
          <p:cNvSpPr/>
          <p:nvPr/>
        </p:nvSpPr>
        <p:spPr>
          <a:xfrm>
            <a:off x="1766387" y="3022632"/>
            <a:ext cx="1020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Predict+</a:t>
            </a:r>
            <a:endParaRPr lang="en-US" sz="927" dirty="0"/>
          </a:p>
        </p:txBody>
      </p:sp>
      <p:sp>
        <p:nvSpPr>
          <p:cNvPr id="18" name="TextBox 41"/>
          <p:cNvSpPr/>
          <p:nvPr/>
        </p:nvSpPr>
        <p:spPr>
          <a:xfrm>
            <a:off x="1766387" y="3165506"/>
            <a:ext cx="102014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Alertas + tendencias</a:t>
            </a:r>
            <a:endParaRPr lang="en-US" sz="734" dirty="0"/>
          </a:p>
        </p:txBody>
      </p:sp>
      <p:pic>
        <p:nvPicPr>
          <p:cNvPr id="19" name="Picture 48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2558" y="1388702"/>
            <a:ext cx="3185192" cy="1794529"/>
          </a:xfrm>
          <a:prstGeom prst="rect">
            <a:avLst/>
          </a:prstGeom>
        </p:spPr>
      </p:pic>
      <p:sp>
        <p:nvSpPr>
          <p:cNvPr id="20" name="Shape 52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21" name="Picture 52" descr="__type_imag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22" name="TextBox 54"/>
          <p:cNvSpPr/>
          <p:nvPr/>
        </p:nvSpPr>
        <p:spPr>
          <a:xfrm>
            <a:off x="476250" y="4741055"/>
            <a:ext cx="289518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Lite: FlexSearch + stats + predict · Full: + OCR + RAG + resúmenes</a:t>
            </a:r>
            <a:endParaRPr lang="en-US" sz="734" dirty="0"/>
          </a:p>
        </p:txBody>
      </p:sp>
      <p:sp>
        <p:nvSpPr>
          <p:cNvPr id="23" name="TextBox 56"/>
          <p:cNvSpPr/>
          <p:nvPr/>
        </p:nvSpPr>
        <p:spPr>
          <a:xfrm>
            <a:off x="7796564" y="4741055"/>
            <a:ext cx="87118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Incluida en el precio</a:t>
            </a:r>
            <a:endParaRPr lang="en-US" sz="7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4"/>
          <p:cNvSpPr/>
          <p:nvPr/>
        </p:nvSpPr>
        <p:spPr>
          <a:xfrm>
            <a:off x="381000" y="285750"/>
            <a:ext cx="83820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KITS POR INDUSTRIA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381000" y="478618"/>
            <a:ext cx="83820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Verticales de Negocio</a:t>
            </a:r>
            <a:endParaRPr lang="en-US" sz="1855" dirty="0"/>
          </a:p>
        </p:txBody>
      </p:sp>
      <p:sp>
        <p:nvSpPr>
          <p:cNvPr id="6" name="Shape 10"/>
          <p:cNvSpPr/>
          <p:nvPr/>
        </p:nvSpPr>
        <p:spPr>
          <a:xfrm>
            <a:off x="381000" y="874771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Box 14"/>
          <p:cNvSpPr/>
          <p:nvPr/>
        </p:nvSpPr>
        <p:spPr>
          <a:xfrm>
            <a:off x="471041" y="964812"/>
            <a:ext cx="9188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Comercio &amp; Retail</a:t>
            </a:r>
            <a:endParaRPr lang="en-US" sz="927" dirty="0"/>
          </a:p>
        </p:txBody>
      </p:sp>
      <p:sp>
        <p:nvSpPr>
          <p:cNvPr id="8" name="TextBox 16"/>
          <p:cNvSpPr/>
          <p:nvPr/>
        </p:nvSpPr>
        <p:spPr>
          <a:xfrm>
            <a:off x="3950846" y="968330"/>
            <a:ext cx="493027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$199–$699</a:t>
            </a:r>
            <a:endParaRPr lang="en-US" sz="734" dirty="0"/>
          </a:p>
        </p:txBody>
      </p:sp>
      <p:sp>
        <p:nvSpPr>
          <p:cNvPr id="9" name="TextBox 19"/>
          <p:cNvSpPr/>
          <p:nvPr/>
        </p:nvSpPr>
        <p:spPr>
          <a:xfrm>
            <a:off x="471041" y="1136235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 + Inventario + PreFactura + Gastos + Contactos</a:t>
            </a:r>
            <a:endParaRPr lang="en-US" sz="734" dirty="0"/>
          </a:p>
        </p:txBody>
      </p:sp>
      <p:sp>
        <p:nvSpPr>
          <p:cNvPr id="10" name="Shape 22"/>
          <p:cNvSpPr/>
          <p:nvPr/>
        </p:nvSpPr>
        <p:spPr>
          <a:xfrm>
            <a:off x="4610087" y="874771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Box 26"/>
          <p:cNvSpPr/>
          <p:nvPr/>
        </p:nvSpPr>
        <p:spPr>
          <a:xfrm>
            <a:off x="4700128" y="964812"/>
            <a:ext cx="658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Gastronomía</a:t>
            </a:r>
            <a:endParaRPr lang="en-US" sz="927" dirty="0"/>
          </a:p>
        </p:txBody>
      </p:sp>
      <p:sp>
        <p:nvSpPr>
          <p:cNvPr id="12" name="TextBox 28"/>
          <p:cNvSpPr/>
          <p:nvPr/>
        </p:nvSpPr>
        <p:spPr>
          <a:xfrm>
            <a:off x="8165929" y="968330"/>
            <a:ext cx="50703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$249–$849</a:t>
            </a:r>
            <a:endParaRPr lang="en-US" sz="734" dirty="0"/>
          </a:p>
        </p:txBody>
      </p:sp>
      <p:sp>
        <p:nvSpPr>
          <p:cNvPr id="13" name="TextBox 31"/>
          <p:cNvSpPr/>
          <p:nvPr/>
        </p:nvSpPr>
        <p:spPr>
          <a:xfrm>
            <a:off x="4700128" y="1136235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Comanda + POS + Inventario + Gastos + Asistencia</a:t>
            </a:r>
            <a:endParaRPr lang="en-US" sz="734" dirty="0"/>
          </a:p>
        </p:txBody>
      </p:sp>
      <p:sp>
        <p:nvSpPr>
          <p:cNvPr id="14" name="Shape 34"/>
          <p:cNvSpPr/>
          <p:nvPr/>
        </p:nvSpPr>
        <p:spPr>
          <a:xfrm>
            <a:off x="381000" y="1438221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Box 38"/>
          <p:cNvSpPr/>
          <p:nvPr/>
        </p:nvSpPr>
        <p:spPr>
          <a:xfrm>
            <a:off x="471041" y="1528262"/>
            <a:ext cx="955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Belleza &amp; Servicios</a:t>
            </a:r>
            <a:endParaRPr lang="en-US" sz="927" dirty="0"/>
          </a:p>
        </p:txBody>
      </p:sp>
      <p:sp>
        <p:nvSpPr>
          <p:cNvPr id="16" name="TextBox 40"/>
          <p:cNvSpPr/>
          <p:nvPr/>
        </p:nvSpPr>
        <p:spPr>
          <a:xfrm>
            <a:off x="3956528" y="1531780"/>
            <a:ext cx="487344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$179–$699</a:t>
            </a:r>
            <a:endParaRPr lang="en-US" sz="734" dirty="0"/>
          </a:p>
        </p:txBody>
      </p:sp>
      <p:sp>
        <p:nvSpPr>
          <p:cNvPr id="17" name="TextBox 43"/>
          <p:cNvSpPr/>
          <p:nvPr/>
        </p:nvSpPr>
        <p:spPr>
          <a:xfrm>
            <a:off x="471041" y="1699685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Citas + Contactos + Gastos + Asistencia</a:t>
            </a:r>
            <a:endParaRPr lang="en-US" sz="734" dirty="0"/>
          </a:p>
        </p:txBody>
      </p:sp>
      <p:sp>
        <p:nvSpPr>
          <p:cNvPr id="18" name="Shape 46"/>
          <p:cNvSpPr/>
          <p:nvPr/>
        </p:nvSpPr>
        <p:spPr>
          <a:xfrm>
            <a:off x="4610087" y="1438221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Box 50"/>
          <p:cNvSpPr/>
          <p:nvPr/>
        </p:nvSpPr>
        <p:spPr>
          <a:xfrm>
            <a:off x="4700128" y="1528262"/>
            <a:ext cx="10708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Salud &amp; Consultorios</a:t>
            </a:r>
            <a:endParaRPr lang="en-US" sz="927" dirty="0"/>
          </a:p>
        </p:txBody>
      </p:sp>
      <p:sp>
        <p:nvSpPr>
          <p:cNvPr id="20" name="TextBox 52"/>
          <p:cNvSpPr/>
          <p:nvPr/>
        </p:nvSpPr>
        <p:spPr>
          <a:xfrm>
            <a:off x="8185615" y="1531780"/>
            <a:ext cx="487344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$199–$799</a:t>
            </a:r>
            <a:endParaRPr lang="en-US" sz="734" dirty="0"/>
          </a:p>
        </p:txBody>
      </p:sp>
      <p:sp>
        <p:nvSpPr>
          <p:cNvPr id="21" name="TextBox 55"/>
          <p:cNvSpPr/>
          <p:nvPr/>
        </p:nvSpPr>
        <p:spPr>
          <a:xfrm>
            <a:off x="4700128" y="1699685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Rx + Citas + Contactos + PreFactura + Gastos</a:t>
            </a:r>
            <a:endParaRPr lang="en-US" sz="734" dirty="0"/>
          </a:p>
        </p:txBody>
      </p:sp>
      <p:sp>
        <p:nvSpPr>
          <p:cNvPr id="22" name="Shape 58"/>
          <p:cNvSpPr/>
          <p:nvPr/>
        </p:nvSpPr>
        <p:spPr>
          <a:xfrm>
            <a:off x="381000" y="2001671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Box 62"/>
          <p:cNvSpPr/>
          <p:nvPr/>
        </p:nvSpPr>
        <p:spPr>
          <a:xfrm>
            <a:off x="471041" y="2091712"/>
            <a:ext cx="10688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Construcción &amp; Obra</a:t>
            </a:r>
            <a:endParaRPr lang="en-US" sz="927" dirty="0"/>
          </a:p>
        </p:txBody>
      </p:sp>
      <p:sp>
        <p:nvSpPr>
          <p:cNvPr id="24" name="TextBox 64"/>
          <p:cNvSpPr/>
          <p:nvPr/>
        </p:nvSpPr>
        <p:spPr>
          <a:xfrm>
            <a:off x="3937857" y="2095229"/>
            <a:ext cx="50601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$249–$999</a:t>
            </a:r>
            <a:endParaRPr lang="en-US" sz="734" dirty="0"/>
          </a:p>
        </p:txBody>
      </p:sp>
      <p:sp>
        <p:nvSpPr>
          <p:cNvPr id="25" name="TextBox 67"/>
          <p:cNvSpPr/>
          <p:nvPr/>
        </p:nvSpPr>
        <p:spPr>
          <a:xfrm>
            <a:off x="471041" y="2263134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Obra + Checklist + PreFactura + Gastos</a:t>
            </a:r>
            <a:endParaRPr lang="en-US" sz="734" dirty="0"/>
          </a:p>
        </p:txBody>
      </p:sp>
      <p:sp>
        <p:nvSpPr>
          <p:cNvPr id="26" name="Shape 70"/>
          <p:cNvSpPr/>
          <p:nvPr/>
        </p:nvSpPr>
        <p:spPr>
          <a:xfrm>
            <a:off x="4610087" y="2001671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Box 74"/>
          <p:cNvSpPr/>
          <p:nvPr/>
        </p:nvSpPr>
        <p:spPr>
          <a:xfrm>
            <a:off x="4700128" y="2091712"/>
            <a:ext cx="76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Agro &amp; Campo</a:t>
            </a:r>
            <a:endParaRPr lang="en-US" sz="927" dirty="0"/>
          </a:p>
        </p:txBody>
      </p:sp>
      <p:sp>
        <p:nvSpPr>
          <p:cNvPr id="28" name="TextBox 76"/>
          <p:cNvSpPr/>
          <p:nvPr/>
        </p:nvSpPr>
        <p:spPr>
          <a:xfrm>
            <a:off x="8185615" y="2095229"/>
            <a:ext cx="487344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$199–$799</a:t>
            </a:r>
            <a:endParaRPr lang="en-US" sz="734" dirty="0"/>
          </a:p>
        </p:txBody>
      </p:sp>
      <p:sp>
        <p:nvSpPr>
          <p:cNvPr id="29" name="TextBox 79"/>
          <p:cNvSpPr/>
          <p:nvPr/>
        </p:nvSpPr>
        <p:spPr>
          <a:xfrm>
            <a:off x="4700128" y="2263134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Campo + Inventario + Flota + Gastos</a:t>
            </a:r>
            <a:endParaRPr lang="en-US" sz="734" dirty="0"/>
          </a:p>
        </p:txBody>
      </p:sp>
      <p:sp>
        <p:nvSpPr>
          <p:cNvPr id="30" name="Shape 82"/>
          <p:cNvSpPr/>
          <p:nvPr/>
        </p:nvSpPr>
        <p:spPr>
          <a:xfrm>
            <a:off x="381000" y="2565120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TextBox 86"/>
          <p:cNvSpPr/>
          <p:nvPr/>
        </p:nvSpPr>
        <p:spPr>
          <a:xfrm>
            <a:off x="471041" y="2655161"/>
            <a:ext cx="11445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Logística &amp; Transporte</a:t>
            </a:r>
            <a:endParaRPr lang="en-US" sz="927" dirty="0"/>
          </a:p>
        </p:txBody>
      </p:sp>
      <p:sp>
        <p:nvSpPr>
          <p:cNvPr id="32" name="TextBox 88"/>
          <p:cNvSpPr/>
          <p:nvPr/>
        </p:nvSpPr>
        <p:spPr>
          <a:xfrm>
            <a:off x="3956528" y="2658679"/>
            <a:ext cx="487344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$199–$799</a:t>
            </a:r>
            <a:endParaRPr lang="en-US" sz="734" dirty="0"/>
          </a:p>
        </p:txBody>
      </p:sp>
      <p:sp>
        <p:nvSpPr>
          <p:cNvPr id="33" name="TextBox 91"/>
          <p:cNvSpPr/>
          <p:nvPr/>
        </p:nvSpPr>
        <p:spPr>
          <a:xfrm>
            <a:off x="471041" y="2826584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Flota + Checklist + Asistencia + Gastos</a:t>
            </a:r>
            <a:endParaRPr lang="en-US" sz="734" dirty="0"/>
          </a:p>
        </p:txBody>
      </p:sp>
      <p:sp>
        <p:nvSpPr>
          <p:cNvPr id="34" name="Shape 94"/>
          <p:cNvSpPr/>
          <p:nvPr/>
        </p:nvSpPr>
        <p:spPr>
          <a:xfrm>
            <a:off x="4610087" y="2565120"/>
            <a:ext cx="4152914" cy="487277"/>
          </a:xfrm>
          <a:prstGeom prst="roundRect">
            <a:avLst>
              <a:gd name="adj" fmla="val 1007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Box 98"/>
          <p:cNvSpPr/>
          <p:nvPr/>
        </p:nvSpPr>
        <p:spPr>
          <a:xfrm>
            <a:off x="4700128" y="2655161"/>
            <a:ext cx="1081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Oficina &amp; Freelancers</a:t>
            </a:r>
            <a:endParaRPr lang="en-US" sz="927" dirty="0"/>
          </a:p>
        </p:txBody>
      </p:sp>
      <p:sp>
        <p:nvSpPr>
          <p:cNvPr id="36" name="TextBox 100"/>
          <p:cNvSpPr/>
          <p:nvPr/>
        </p:nvSpPr>
        <p:spPr>
          <a:xfrm>
            <a:off x="8179729" y="2658679"/>
            <a:ext cx="49323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$149–$599</a:t>
            </a:r>
            <a:endParaRPr lang="en-US" sz="734" dirty="0"/>
          </a:p>
        </p:txBody>
      </p:sp>
      <p:sp>
        <p:nvSpPr>
          <p:cNvPr id="37" name="TextBox 103"/>
          <p:cNvSpPr/>
          <p:nvPr/>
        </p:nvSpPr>
        <p:spPr>
          <a:xfrm>
            <a:off x="4700128" y="2826584"/>
            <a:ext cx="397283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CRM + Contactos + PreFactura + Gastos</a:t>
            </a:r>
            <a:endParaRPr lang="en-US" sz="734" dirty="0"/>
          </a:p>
        </p:txBody>
      </p:sp>
      <p:sp>
        <p:nvSpPr>
          <p:cNvPr id="38" name="Shape 107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39" name="Picture 10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40" name="TextBox 109"/>
          <p:cNvSpPr/>
          <p:nvPr/>
        </p:nvSpPr>
        <p:spPr>
          <a:xfrm>
            <a:off x="476250" y="4741055"/>
            <a:ext cx="253806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Pago único, sin mensualidades · App adicional al kit: −20%</a:t>
            </a:r>
            <a:endParaRPr lang="en-US" sz="7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4"/>
          <p:cNvSpPr/>
          <p:nvPr/>
        </p:nvSpPr>
        <p:spPr>
          <a:xfrm>
            <a:off x="381000" y="238125"/>
            <a:ext cx="83820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PRICING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381000" y="430993"/>
            <a:ext cx="83820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Tabla Única de Precios</a:t>
            </a:r>
            <a:endParaRPr lang="en-US" sz="1855" dirty="0"/>
          </a:p>
        </p:txBody>
      </p:sp>
      <p:sp>
        <p:nvSpPr>
          <p:cNvPr id="6" name="TextBox 8"/>
          <p:cNvSpPr/>
          <p:nvPr/>
        </p:nvSpPr>
        <p:spPr>
          <a:xfrm>
            <a:off x="381000" y="769983"/>
            <a:ext cx="8382000" cy="1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Pago único por app. Sin mensualidades. Sin sorpresas.</a:t>
            </a:r>
            <a:endParaRPr lang="en-US" sz="850" dirty="0"/>
          </a:p>
        </p:txBody>
      </p:sp>
      <p:graphicFrame>
        <p:nvGraphicFramePr>
          <p:cNvPr id="11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41391"/>
          <a:ext cx="4114827" cy="914400"/>
        </p:xfrm>
        <a:graphic>
          <a:graphicData uri="http://schemas.openxmlformats.org/drawingml/2006/table">
            <a:tbl>
              <a:tblPr/>
              <a:tblGrid>
                <a:gridCol w="1127035"/>
                <a:gridCol w="907446"/>
                <a:gridCol w="1180275"/>
                <a:gridCol w="9000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App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Essential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Professional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Business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POS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Inventario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Comanda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Citas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Rx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CRM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Gastos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$79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Contactos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$79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PreFactura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$29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8173" y="1041391"/>
          <a:ext cx="4114827" cy="914400"/>
        </p:xfrm>
        <a:graphic>
          <a:graphicData uri="http://schemas.openxmlformats.org/drawingml/2006/table">
            <a:tbl>
              <a:tblPr/>
              <a:tblGrid>
                <a:gridCol w="1100516"/>
                <a:gridCol w="915496"/>
                <a:gridCol w="1190692"/>
                <a:gridCol w="90812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App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Essential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Professional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Business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Campo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Obra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Checklist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Flota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Asistencia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AHA Base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A6B4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Gratis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0" marT="39263" marB="39263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 gridSpan="4">
                  <a:txBody>
                    <a:bodyPr/>
                    <a:lstStyle/>
                    <a:p>
                      <a:pPr algn="l" indent="0" marL="0">
                        <a:lnSpc>
                          <a:spcPts val="1101"/>
                        </a:lnSpc>
                        <a:buNone/>
                      </a:pPr>
                      <a:r>
                        <a:rPr lang="en-US" sz="734" b="1" spc="7" kern="0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Essential:</a:t>
                      </a:r>
                      <a:r>
                        <a:rPr lang="en-US" sz="734" spc="7" kern="0" dirty="0">
                          <a:solidFill>
                            <a:srgbClr val="5C5C5C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.exe funcional, 30 registros, IA Lite · </a:t>
                      </a:r>
                      <a:r>
                        <a:rPr lang="en-US" sz="734" b="1" spc="7" kern="0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Professional:</a:t>
                      </a:r>
                      <a:r>
                        <a:rPr lang="en-US" sz="734" spc="7" kern="0" dirty="0">
                          <a:solidFill>
                            <a:srgbClr val="5C5C5C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.exe + .apk, ilimitado, IA Full</a:t>
                      </a:r>
                      <a:endParaRPr lang="en-US" sz="73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  <a:p>
                      <a:pPr algn="l" indent="0" marL="0">
                        <a:lnSpc>
                          <a:spcPts val="1101"/>
                        </a:lnSpc>
                        <a:buNone/>
                      </a:pPr>
                      <a:r>
                        <a:rPr lang="en-US" sz="734" b="1" spc="7" kern="0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Business:</a:t>
                      </a:r>
                      <a:r>
                        <a:rPr lang="en-US" sz="734" spc="7" kern="0" dirty="0">
                          <a:solidFill>
                            <a:srgbClr val="5C5C5C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 Todo + white-label + multi-usuario + API + código fuente</a:t>
                      </a:r>
                      <a:endParaRPr lang="en-US" sz="734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0" marT="19632" marB="196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Shape 23"/>
          <p:cNvSpPr/>
          <p:nvPr/>
        </p:nvSpPr>
        <p:spPr>
          <a:xfrm>
            <a:off x="476250" y="4717649"/>
            <a:ext cx="8191500" cy="235351"/>
          </a:xfrm>
          <a:prstGeom prst="rect">
            <a:avLst/>
          </a:prstGeom>
          <a:noFill/>
          <a:ln/>
        </p:spPr>
      </p:sp>
      <p:pic>
        <p:nvPicPr>
          <p:cNvPr id="10" name="Picture 2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717649"/>
            <a:ext cx="8191500" cy="235351"/>
          </a:xfrm>
          <a:prstGeom prst="rect">
            <a:avLst/>
          </a:prstGeom>
        </p:spPr>
      </p:pic>
      <p:sp>
        <p:nvSpPr>
          <p:cNvPr id="11" name="TextBox 25"/>
          <p:cNvSpPr/>
          <p:nvPr/>
        </p:nvSpPr>
        <p:spPr>
          <a:xfrm>
            <a:off x="476250" y="4817228"/>
            <a:ext cx="2825367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Kits verticales desde $149 Essential · Revendedor: 70% comisión</a:t>
            </a:r>
            <a:endParaRPr lang="en-US" sz="7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4"/>
          <p:cNvSpPr/>
          <p:nvPr/>
        </p:nvSpPr>
        <p:spPr>
          <a:xfrm>
            <a:off x="381000" y="285750"/>
            <a:ext cx="83820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FLAGS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381000" y="478618"/>
            <a:ext cx="83820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Comparativa de Perfiles</a:t>
            </a:r>
            <a:endParaRPr lang="en-US" sz="1855" dirty="0"/>
          </a:p>
        </p:txBody>
      </p:sp>
      <p:sp>
        <p:nvSpPr>
          <p:cNvPr id="6" name="Shape 8"/>
          <p:cNvSpPr/>
          <p:nvPr/>
        </p:nvSpPr>
        <p:spPr>
          <a:xfrm>
            <a:off x="381000" y="874771"/>
            <a:ext cx="8382000" cy="3160162"/>
          </a:xfrm>
          <a:prstGeom prst="roundRect">
            <a:avLst>
              <a:gd name="adj" fmla="val 1864"/>
            </a:avLst>
          </a:prstGeom>
          <a:noFill/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graphicFrame>
        <p:nvGraphicFramePr>
          <p:cNvPr id="12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5330" y="879101"/>
          <a:ext cx="8373341" cy="914400"/>
        </p:xfrm>
        <a:graphic>
          <a:graphicData uri="http://schemas.openxmlformats.org/drawingml/2006/table">
            <a:tbl>
              <a:tblPr/>
              <a:tblGrid>
                <a:gridCol w="2996248"/>
                <a:gridCol w="1362793"/>
                <a:gridCol w="1729856"/>
                <a:gridCol w="22844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Feature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02620" marR="102620" marT="73173" marB="731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Essential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02620" marR="102620" marT="73173" marB="731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Professional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02620" marR="102620" marT="73173" marB="731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Business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02620" marR="102620" marT="73173" marB="731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Max registros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30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Ilimitado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Ilimitado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Exportar datos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Sync entre dispositivos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Backup .ateje-backup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White-label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IA Jutia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Lite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Full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Full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Multi-usuario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API access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Max dispositivos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1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5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200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Formato entrega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.exe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.exe + .apk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.exe + .apk + WL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Código fuente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FFFFFF">
                              <a:alpha val="40000"/>
                            </a:srgbClr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❌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2ECC71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✅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102620" marR="102620" marT="63357" marB="6335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13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9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10" name="TextBox 15"/>
          <p:cNvSpPr/>
          <p:nvPr/>
        </p:nvSpPr>
        <p:spPr>
          <a:xfrm>
            <a:off x="476250" y="4741055"/>
            <a:ext cx="183518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Controlado por feature-flags.js en runtime</a:t>
            </a:r>
            <a:endParaRPr lang="en-US" sz="7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4"/>
          <p:cNvSpPr/>
          <p:nvPr/>
        </p:nvSpPr>
        <p:spPr>
          <a:xfrm>
            <a:off x="476250" y="381000"/>
            <a:ext cx="81915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VENTAJAS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476250" y="573868"/>
            <a:ext cx="81915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Ateje Stack vs SaaS</a:t>
            </a:r>
            <a:endParaRPr lang="en-US" sz="1855" dirty="0"/>
          </a:p>
        </p:txBody>
      </p:sp>
      <p:sp>
        <p:nvSpPr>
          <p:cNvPr id="6" name="Shape 10"/>
          <p:cNvSpPr/>
          <p:nvPr/>
        </p:nvSpPr>
        <p:spPr>
          <a:xfrm>
            <a:off x="476250" y="950944"/>
            <a:ext cx="4038587" cy="2027107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7" name="Shape 12"/>
          <p:cNvSpPr/>
          <p:nvPr/>
        </p:nvSpPr>
        <p:spPr>
          <a:xfrm>
            <a:off x="594839" y="1069533"/>
            <a:ext cx="3801409" cy="204301"/>
          </a:xfrm>
          <a:prstGeom prst="rect">
            <a:avLst/>
          </a:prstGeom>
          <a:noFill/>
          <a:ln/>
        </p:spPr>
      </p:sp>
      <p:pic>
        <p:nvPicPr>
          <p:cNvPr id="8" name="Picture 1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839" y="1069533"/>
            <a:ext cx="3801409" cy="204301"/>
          </a:xfrm>
          <a:prstGeom prst="rect">
            <a:avLst/>
          </a:prstGeom>
        </p:spPr>
      </p:pic>
      <p:sp>
        <p:nvSpPr>
          <p:cNvPr id="9" name="TextBox 14"/>
          <p:cNvSpPr/>
          <p:nvPr/>
        </p:nvSpPr>
        <p:spPr>
          <a:xfrm>
            <a:off x="594839" y="1069533"/>
            <a:ext cx="294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Costo</a:t>
            </a:r>
            <a:endParaRPr lang="en-US" sz="927" dirty="0"/>
          </a:p>
        </p:txBody>
      </p:sp>
      <p:sp>
        <p:nvSpPr>
          <p:cNvPr id="10" name="TextBox 18"/>
          <p:cNvSpPr/>
          <p:nvPr/>
        </p:nvSpPr>
        <p:spPr>
          <a:xfrm>
            <a:off x="3223211" y="1073051"/>
            <a:ext cx="60329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$20–500/mes</a:t>
            </a:r>
            <a:endParaRPr lang="en-US" sz="734" dirty="0"/>
          </a:p>
        </p:txBody>
      </p:sp>
      <p:sp>
        <p:nvSpPr>
          <p:cNvPr id="11" name="TextBox 20"/>
          <p:cNvSpPr/>
          <p:nvPr/>
        </p:nvSpPr>
        <p:spPr>
          <a:xfrm>
            <a:off x="3902679" y="1073051"/>
            <a:ext cx="49356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b="1" spc="7" kern="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Pago único</a:t>
            </a:r>
            <a:endParaRPr lang="en-US" sz="734" dirty="0"/>
          </a:p>
        </p:txBody>
      </p:sp>
      <p:sp>
        <p:nvSpPr>
          <p:cNvPr id="12" name="Shape 24"/>
          <p:cNvSpPr/>
          <p:nvPr/>
        </p:nvSpPr>
        <p:spPr>
          <a:xfrm>
            <a:off x="594839" y="1330929"/>
            <a:ext cx="3801409" cy="204300"/>
          </a:xfrm>
          <a:prstGeom prst="rect">
            <a:avLst/>
          </a:prstGeom>
          <a:noFill/>
          <a:ln/>
        </p:spPr>
      </p:sp>
      <p:pic>
        <p:nvPicPr>
          <p:cNvPr id="13" name="Picture 2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839" y="1330929"/>
            <a:ext cx="3801409" cy="204300"/>
          </a:xfrm>
          <a:prstGeom prst="rect">
            <a:avLst/>
          </a:prstGeom>
        </p:spPr>
      </p:pic>
      <p:sp>
        <p:nvSpPr>
          <p:cNvPr id="14" name="TextBox 26"/>
          <p:cNvSpPr/>
          <p:nvPr/>
        </p:nvSpPr>
        <p:spPr>
          <a:xfrm>
            <a:off x="594839" y="1330929"/>
            <a:ext cx="4078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Internet</a:t>
            </a:r>
            <a:endParaRPr lang="en-US" sz="927" dirty="0"/>
          </a:p>
        </p:txBody>
      </p:sp>
      <p:sp>
        <p:nvSpPr>
          <p:cNvPr id="15" name="TextBox 30"/>
          <p:cNvSpPr/>
          <p:nvPr/>
        </p:nvSpPr>
        <p:spPr>
          <a:xfrm>
            <a:off x="3164695" y="1334447"/>
            <a:ext cx="479632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Obligatorio</a:t>
            </a:r>
            <a:endParaRPr lang="en-US" sz="734" dirty="0"/>
          </a:p>
        </p:txBody>
      </p:sp>
      <p:sp>
        <p:nvSpPr>
          <p:cNvPr id="16" name="TextBox 32"/>
          <p:cNvSpPr/>
          <p:nvPr/>
        </p:nvSpPr>
        <p:spPr>
          <a:xfrm>
            <a:off x="3720500" y="1334447"/>
            <a:ext cx="6757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b="1" spc="7" kern="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Cero necesario</a:t>
            </a:r>
            <a:endParaRPr lang="en-US" sz="734" dirty="0"/>
          </a:p>
        </p:txBody>
      </p:sp>
      <p:sp>
        <p:nvSpPr>
          <p:cNvPr id="17" name="Shape 36"/>
          <p:cNvSpPr/>
          <p:nvPr/>
        </p:nvSpPr>
        <p:spPr>
          <a:xfrm>
            <a:off x="594839" y="1535230"/>
            <a:ext cx="3801409" cy="204301"/>
          </a:xfrm>
          <a:prstGeom prst="rect">
            <a:avLst/>
          </a:prstGeom>
          <a:noFill/>
          <a:ln/>
        </p:spPr>
      </p:sp>
      <p:pic>
        <p:nvPicPr>
          <p:cNvPr id="18" name="Picture 3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839" y="1535230"/>
            <a:ext cx="3801409" cy="204301"/>
          </a:xfrm>
          <a:prstGeom prst="rect">
            <a:avLst/>
          </a:prstGeom>
        </p:spPr>
      </p:pic>
      <p:sp>
        <p:nvSpPr>
          <p:cNvPr id="19" name="TextBox 38"/>
          <p:cNvSpPr/>
          <p:nvPr/>
        </p:nvSpPr>
        <p:spPr>
          <a:xfrm>
            <a:off x="594839" y="1535230"/>
            <a:ext cx="8546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Datos del cliente</a:t>
            </a:r>
            <a:endParaRPr lang="en-US" sz="927" dirty="0"/>
          </a:p>
        </p:txBody>
      </p:sp>
      <p:sp>
        <p:nvSpPr>
          <p:cNvPr id="20" name="TextBox 42"/>
          <p:cNvSpPr/>
          <p:nvPr/>
        </p:nvSpPr>
        <p:spPr>
          <a:xfrm>
            <a:off x="2956403" y="1538748"/>
            <a:ext cx="780062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Servidores ajenos</a:t>
            </a:r>
            <a:endParaRPr lang="en-US" sz="734" dirty="0"/>
          </a:p>
        </p:txBody>
      </p:sp>
      <p:sp>
        <p:nvSpPr>
          <p:cNvPr id="21" name="TextBox 44"/>
          <p:cNvSpPr/>
          <p:nvPr/>
        </p:nvSpPr>
        <p:spPr>
          <a:xfrm>
            <a:off x="3812638" y="1538748"/>
            <a:ext cx="58360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b="1" spc="7" kern="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 locales</a:t>
            </a:r>
            <a:endParaRPr lang="en-US" sz="734" dirty="0"/>
          </a:p>
        </p:txBody>
      </p:sp>
      <p:sp>
        <p:nvSpPr>
          <p:cNvPr id="22" name="Shape 48"/>
          <p:cNvSpPr/>
          <p:nvPr/>
        </p:nvSpPr>
        <p:spPr>
          <a:xfrm>
            <a:off x="594839" y="1739530"/>
            <a:ext cx="3801409" cy="204300"/>
          </a:xfrm>
          <a:prstGeom prst="rect">
            <a:avLst/>
          </a:prstGeom>
          <a:noFill/>
          <a:ln/>
        </p:spPr>
      </p:sp>
      <p:pic>
        <p:nvPicPr>
          <p:cNvPr id="23" name="Picture 48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839" y="1739530"/>
            <a:ext cx="3801409" cy="204300"/>
          </a:xfrm>
          <a:prstGeom prst="rect">
            <a:avLst/>
          </a:prstGeom>
        </p:spPr>
      </p:pic>
      <p:sp>
        <p:nvSpPr>
          <p:cNvPr id="24" name="TextBox 50"/>
          <p:cNvSpPr/>
          <p:nvPr/>
        </p:nvSpPr>
        <p:spPr>
          <a:xfrm>
            <a:off x="594839" y="1739530"/>
            <a:ext cx="8726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 dejas de pagar</a:t>
            </a:r>
            <a:endParaRPr lang="en-US" sz="927" dirty="0"/>
          </a:p>
        </p:txBody>
      </p:sp>
      <p:sp>
        <p:nvSpPr>
          <p:cNvPr id="25" name="TextBox 54"/>
          <p:cNvSpPr/>
          <p:nvPr/>
        </p:nvSpPr>
        <p:spPr>
          <a:xfrm>
            <a:off x="2932252" y="1743048"/>
            <a:ext cx="55276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Pierdes todo</a:t>
            </a:r>
            <a:endParaRPr lang="en-US" sz="734" dirty="0"/>
          </a:p>
        </p:txBody>
      </p:sp>
      <p:sp>
        <p:nvSpPr>
          <p:cNvPr id="26" name="TextBox 56"/>
          <p:cNvSpPr/>
          <p:nvPr/>
        </p:nvSpPr>
        <p:spPr>
          <a:xfrm>
            <a:off x="3561186" y="1743048"/>
            <a:ext cx="83506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b="1" spc="7" kern="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Sigue funcionando</a:t>
            </a:r>
            <a:endParaRPr lang="en-US" sz="734" dirty="0"/>
          </a:p>
        </p:txBody>
      </p:sp>
      <p:sp>
        <p:nvSpPr>
          <p:cNvPr id="27" name="TextBox 62"/>
          <p:cNvSpPr/>
          <p:nvPr/>
        </p:nvSpPr>
        <p:spPr>
          <a:xfrm>
            <a:off x="594839" y="1943831"/>
            <a:ext cx="540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927" b="1" spc="-5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incluida</a:t>
            </a:r>
            <a:endParaRPr lang="en-US" sz="927" dirty="0"/>
          </a:p>
        </p:txBody>
      </p:sp>
      <p:sp>
        <p:nvSpPr>
          <p:cNvPr id="28" name="TextBox 66"/>
          <p:cNvSpPr/>
          <p:nvPr/>
        </p:nvSpPr>
        <p:spPr>
          <a:xfrm>
            <a:off x="3070933" y="1947348"/>
            <a:ext cx="766533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o add-on caro</a:t>
            </a:r>
            <a:endParaRPr lang="en-US" sz="734" dirty="0"/>
          </a:p>
        </p:txBody>
      </p:sp>
      <p:sp>
        <p:nvSpPr>
          <p:cNvPr id="29" name="TextBox 68"/>
          <p:cNvSpPr/>
          <p:nvPr/>
        </p:nvSpPr>
        <p:spPr>
          <a:xfrm>
            <a:off x="3913639" y="1947348"/>
            <a:ext cx="48260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b="1" spc="7" kern="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Sí, incluida</a:t>
            </a:r>
            <a:endParaRPr lang="en-US" sz="734" dirty="0"/>
          </a:p>
        </p:txBody>
      </p:sp>
      <p:sp>
        <p:nvSpPr>
          <p:cNvPr id="30" name="Shape 73"/>
          <p:cNvSpPr/>
          <p:nvPr/>
        </p:nvSpPr>
        <p:spPr>
          <a:xfrm>
            <a:off x="4629096" y="950944"/>
            <a:ext cx="4038654" cy="2027107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 w="4462">
            <a:solidFill>
              <a:srgbClr val="E5E7EB"/>
            </a:solidFill>
            <a:prstDash val="solid"/>
          </a:ln>
        </p:spPr>
      </p:sp>
      <p:sp>
        <p:nvSpPr>
          <p:cNvPr id="31" name="TextBox 75"/>
          <p:cNvSpPr/>
          <p:nvPr/>
        </p:nvSpPr>
        <p:spPr>
          <a:xfrm>
            <a:off x="4747685" y="1069533"/>
            <a:ext cx="3801476" cy="371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i="1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"El Ateje Stack no compite con SaaS. Compite con la libreta y el Excel."</a:t>
            </a:r>
            <a:endParaRPr lang="en-US" sz="1005" dirty="0"/>
          </a:p>
        </p:txBody>
      </p:sp>
      <p:sp>
        <p:nvSpPr>
          <p:cNvPr id="32" name="TextBox 79"/>
          <p:cNvSpPr/>
          <p:nvPr/>
        </p:nvSpPr>
        <p:spPr>
          <a:xfrm>
            <a:off x="4747685" y="1536177"/>
            <a:ext cx="919555" cy="211945"/>
          </a:xfrm>
          <a:prstGeom prst="roundRect">
            <a:avLst>
              <a:gd name="adj" fmla="val 50000"/>
            </a:avLst>
          </a:prstGeom>
          <a:solidFill>
            <a:srgbClr val="1A6B4C"/>
          </a:solidFill>
          <a:ln/>
        </p:spPr>
        <p:txBody>
          <a:bodyPr wrap="square" lIns="117790" tIns="39263" rIns="117790" bIns="39263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ventajas clave</a:t>
            </a:r>
            <a:endParaRPr lang="en-US" sz="734" dirty="0"/>
          </a:p>
        </p:txBody>
      </p:sp>
      <p:sp>
        <p:nvSpPr>
          <p:cNvPr id="33" name="TextBox 81"/>
          <p:cNvSpPr/>
          <p:nvPr/>
        </p:nvSpPr>
        <p:spPr>
          <a:xfrm>
            <a:off x="5743413" y="1536177"/>
            <a:ext cx="434645" cy="211945"/>
          </a:xfrm>
          <a:prstGeom prst="rect">
            <a:avLst/>
          </a:prstGeom>
          <a:noFill/>
          <a:ln w="4462">
            <a:solidFill>
              <a:srgbClr val="1A6B4C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Offline</a:t>
            </a:r>
            <a:endParaRPr lang="en-US" sz="850" dirty="0"/>
          </a:p>
        </p:txBody>
      </p:sp>
      <p:sp>
        <p:nvSpPr>
          <p:cNvPr id="34" name="TextBox 83"/>
          <p:cNvSpPr/>
          <p:nvPr/>
        </p:nvSpPr>
        <p:spPr>
          <a:xfrm>
            <a:off x="6254232" y="1536177"/>
            <a:ext cx="465020" cy="211945"/>
          </a:xfrm>
          <a:prstGeom prst="rect">
            <a:avLst/>
          </a:prstGeom>
          <a:noFill/>
          <a:ln w="4462">
            <a:solidFill>
              <a:srgbClr val="1A6B4C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IA local</a:t>
            </a:r>
            <a:endParaRPr lang="en-US" sz="850" dirty="0"/>
          </a:p>
        </p:txBody>
      </p:sp>
      <p:sp>
        <p:nvSpPr>
          <p:cNvPr id="35" name="TextBox 85"/>
          <p:cNvSpPr/>
          <p:nvPr/>
        </p:nvSpPr>
        <p:spPr>
          <a:xfrm>
            <a:off x="6795425" y="1536177"/>
            <a:ext cx="938565" cy="211945"/>
          </a:xfrm>
          <a:prstGeom prst="rect">
            <a:avLst/>
          </a:prstGeom>
          <a:noFill/>
          <a:ln w="4462">
            <a:solidFill>
              <a:srgbClr val="1A6B4C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Cifrado AES-256</a:t>
            </a:r>
            <a:endParaRPr lang="en-US" sz="850" dirty="0"/>
          </a:p>
        </p:txBody>
      </p:sp>
      <p:pic>
        <p:nvPicPr>
          <p:cNvPr id="36" name="Picture 90" descr="__type_imag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7685" y="1862381"/>
            <a:ext cx="1687373" cy="952500"/>
          </a:xfrm>
          <a:prstGeom prst="rect">
            <a:avLst/>
          </a:prstGeom>
        </p:spPr>
      </p:pic>
      <p:sp>
        <p:nvSpPr>
          <p:cNvPr id="37" name="Shape 95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38" name="Picture 95" descr="__type_image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39" name="TextBox 97"/>
          <p:cNvSpPr/>
          <p:nvPr/>
        </p:nvSpPr>
        <p:spPr>
          <a:xfrm>
            <a:off x="476250" y="4741055"/>
            <a:ext cx="2437534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QuickBooks, Alegra, Zoho, Loggro, Buildertrend, Holded</a:t>
            </a:r>
            <a:endParaRPr lang="en-US" sz="7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4"/>
          <p:cNvSpPr/>
          <p:nvPr/>
        </p:nvSpPr>
        <p:spPr>
          <a:xfrm>
            <a:off x="381000" y="285750"/>
            <a:ext cx="83820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OPORTUNIDAD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381000" y="478618"/>
            <a:ext cx="83820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Mercado LATAM</a:t>
            </a:r>
            <a:endParaRPr lang="en-US" sz="1855" dirty="0"/>
          </a:p>
        </p:txBody>
      </p:sp>
      <p:sp>
        <p:nvSpPr>
          <p:cNvPr id="6" name="TextBox 8"/>
          <p:cNvSpPr/>
          <p:nvPr/>
        </p:nvSpPr>
        <p:spPr>
          <a:xfrm>
            <a:off x="381000" y="817608"/>
            <a:ext cx="2857500" cy="314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~30 millones de PYMEs · 70–80% sin sistema digital · $15,000M TAM</a:t>
            </a:r>
            <a:endParaRPr lang="en-US" sz="850" dirty="0"/>
          </a:p>
        </p:txBody>
      </p:sp>
      <p:pic>
        <p:nvPicPr>
          <p:cNvPr id="7" name="Picture 16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1978264"/>
            <a:ext cx="876327" cy="1015346"/>
          </a:xfrm>
          <a:prstGeom prst="rect">
            <a:avLst/>
          </a:prstGeom>
        </p:spPr>
      </p:pic>
      <p:sp>
        <p:nvSpPr>
          <p:cNvPr id="8" name="TextBox 18"/>
          <p:cNvSpPr/>
          <p:nvPr/>
        </p:nvSpPr>
        <p:spPr>
          <a:xfrm>
            <a:off x="797854" y="1978264"/>
            <a:ext cx="233051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12M</a:t>
            </a:r>
            <a:endParaRPr lang="en-US" sz="1005" dirty="0"/>
          </a:p>
        </p:txBody>
      </p:sp>
      <p:sp>
        <p:nvSpPr>
          <p:cNvPr id="9" name="TextBox 20"/>
          <p:cNvSpPr/>
          <p:nvPr/>
        </p:nvSpPr>
        <p:spPr>
          <a:xfrm>
            <a:off x="628664" y="2240134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Tiendas minoristas</a:t>
            </a:r>
            <a:endParaRPr lang="en-US" sz="773" dirty="0"/>
          </a:p>
        </p:txBody>
      </p:sp>
      <p:pic>
        <p:nvPicPr>
          <p:cNvPr id="10" name="Picture 2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673" y="2436452"/>
            <a:ext cx="876395" cy="557158"/>
          </a:xfrm>
          <a:prstGeom prst="rect">
            <a:avLst/>
          </a:prstGeom>
        </p:spPr>
      </p:pic>
      <p:sp>
        <p:nvSpPr>
          <p:cNvPr id="11" name="TextBox 25"/>
          <p:cNvSpPr/>
          <p:nvPr/>
        </p:nvSpPr>
        <p:spPr>
          <a:xfrm>
            <a:off x="1756240" y="2436452"/>
            <a:ext cx="183261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5M</a:t>
            </a:r>
            <a:endParaRPr lang="en-US" sz="1005" dirty="0"/>
          </a:p>
        </p:txBody>
      </p:sp>
      <p:sp>
        <p:nvSpPr>
          <p:cNvPr id="12" name="TextBox 27"/>
          <p:cNvSpPr/>
          <p:nvPr/>
        </p:nvSpPr>
        <p:spPr>
          <a:xfrm>
            <a:off x="1562086" y="2698322"/>
            <a:ext cx="57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Restaurantes</a:t>
            </a:r>
            <a:endParaRPr lang="en-US" sz="773" dirty="0"/>
          </a:p>
        </p:txBody>
      </p:sp>
      <p:pic>
        <p:nvPicPr>
          <p:cNvPr id="13" name="Picture 30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3164" y="2560250"/>
            <a:ext cx="876327" cy="433360"/>
          </a:xfrm>
          <a:prstGeom prst="rect">
            <a:avLst/>
          </a:prstGeom>
        </p:spPr>
      </p:pic>
      <p:sp>
        <p:nvSpPr>
          <p:cNvPr id="14" name="TextBox 32"/>
          <p:cNvSpPr/>
          <p:nvPr/>
        </p:nvSpPr>
        <p:spPr>
          <a:xfrm>
            <a:off x="2689662" y="2560250"/>
            <a:ext cx="183262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3M</a:t>
            </a:r>
            <a:endParaRPr lang="en-US" sz="1005" dirty="0"/>
          </a:p>
        </p:txBody>
      </p:sp>
      <p:sp>
        <p:nvSpPr>
          <p:cNvPr id="15" name="TextBox 34"/>
          <p:cNvSpPr/>
          <p:nvPr/>
        </p:nvSpPr>
        <p:spPr>
          <a:xfrm>
            <a:off x="2495577" y="2822119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Barberías / Salones</a:t>
            </a:r>
            <a:endParaRPr lang="en-US" sz="773" dirty="0"/>
          </a:p>
        </p:txBody>
      </p:sp>
      <p:pic>
        <p:nvPicPr>
          <p:cNvPr id="16" name="Picture 37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6587" y="2646908"/>
            <a:ext cx="876395" cy="346702"/>
          </a:xfrm>
          <a:prstGeom prst="rect">
            <a:avLst/>
          </a:prstGeom>
        </p:spPr>
      </p:pic>
      <p:sp>
        <p:nvSpPr>
          <p:cNvPr id="17" name="TextBox 39"/>
          <p:cNvSpPr/>
          <p:nvPr/>
        </p:nvSpPr>
        <p:spPr>
          <a:xfrm>
            <a:off x="3623153" y="2646908"/>
            <a:ext cx="183262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2M</a:t>
            </a:r>
            <a:endParaRPr lang="en-US" sz="1005" dirty="0"/>
          </a:p>
        </p:txBody>
      </p:sp>
      <p:sp>
        <p:nvSpPr>
          <p:cNvPr id="18" name="TextBox 41"/>
          <p:cNvSpPr/>
          <p:nvPr/>
        </p:nvSpPr>
        <p:spPr>
          <a:xfrm>
            <a:off x="3432179" y="2908778"/>
            <a:ext cx="565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Consultorios</a:t>
            </a:r>
            <a:endParaRPr lang="en-US" sz="773" dirty="0"/>
          </a:p>
        </p:txBody>
      </p:sp>
      <p:pic>
        <p:nvPicPr>
          <p:cNvPr id="19" name="Picture 44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0077" y="2721255"/>
            <a:ext cx="876327" cy="272355"/>
          </a:xfrm>
          <a:prstGeom prst="rect">
            <a:avLst/>
          </a:prstGeom>
        </p:spPr>
      </p:pic>
      <p:sp>
        <p:nvSpPr>
          <p:cNvPr id="20" name="TextBox 46"/>
          <p:cNvSpPr/>
          <p:nvPr/>
        </p:nvSpPr>
        <p:spPr>
          <a:xfrm>
            <a:off x="4566047" y="2721255"/>
            <a:ext cx="164320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1M</a:t>
            </a:r>
            <a:endParaRPr lang="en-US" sz="1005" dirty="0"/>
          </a:p>
        </p:txBody>
      </p:sp>
      <p:sp>
        <p:nvSpPr>
          <p:cNvPr id="21" name="TextBox 48"/>
          <p:cNvSpPr/>
          <p:nvPr/>
        </p:nvSpPr>
        <p:spPr>
          <a:xfrm>
            <a:off x="4362491" y="2983124"/>
            <a:ext cx="57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Construcción</a:t>
            </a:r>
            <a:endParaRPr lang="en-US" sz="773" dirty="0"/>
          </a:p>
        </p:txBody>
      </p:sp>
      <p:pic>
        <p:nvPicPr>
          <p:cNvPr id="22" name="Picture 51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3500" y="2721255"/>
            <a:ext cx="876327" cy="272355"/>
          </a:xfrm>
          <a:prstGeom prst="rect">
            <a:avLst/>
          </a:prstGeom>
        </p:spPr>
      </p:pic>
      <p:sp>
        <p:nvSpPr>
          <p:cNvPr id="23" name="TextBox 53"/>
          <p:cNvSpPr/>
          <p:nvPr/>
        </p:nvSpPr>
        <p:spPr>
          <a:xfrm>
            <a:off x="5499470" y="2721255"/>
            <a:ext cx="164320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1M</a:t>
            </a:r>
            <a:endParaRPr lang="en-US" sz="1005" dirty="0"/>
          </a:p>
        </p:txBody>
      </p:sp>
      <p:sp>
        <p:nvSpPr>
          <p:cNvPr id="24" name="TextBox 55"/>
          <p:cNvSpPr/>
          <p:nvPr/>
        </p:nvSpPr>
        <p:spPr>
          <a:xfrm>
            <a:off x="5334879" y="2983124"/>
            <a:ext cx="4935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Transporte</a:t>
            </a:r>
            <a:endParaRPr lang="en-US" sz="773" dirty="0"/>
          </a:p>
        </p:txBody>
      </p:sp>
      <p:pic>
        <p:nvPicPr>
          <p:cNvPr id="25" name="Picture 58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76923" y="2523110"/>
            <a:ext cx="876327" cy="470500"/>
          </a:xfrm>
          <a:prstGeom prst="rect">
            <a:avLst/>
          </a:prstGeom>
        </p:spPr>
      </p:pic>
      <p:sp>
        <p:nvSpPr>
          <p:cNvPr id="26" name="TextBox 60"/>
          <p:cNvSpPr/>
          <p:nvPr/>
        </p:nvSpPr>
        <p:spPr>
          <a:xfrm>
            <a:off x="6423423" y="2523110"/>
            <a:ext cx="183261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5M</a:t>
            </a:r>
            <a:endParaRPr lang="en-US" sz="1005" dirty="0"/>
          </a:p>
        </p:txBody>
      </p:sp>
      <p:sp>
        <p:nvSpPr>
          <p:cNvPr id="27" name="TextBox 62"/>
          <p:cNvSpPr/>
          <p:nvPr/>
        </p:nvSpPr>
        <p:spPr>
          <a:xfrm>
            <a:off x="6229337" y="278498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Agro / Campo</a:t>
            </a:r>
            <a:endParaRPr lang="en-US" sz="773" dirty="0"/>
          </a:p>
        </p:txBody>
      </p:sp>
      <p:sp>
        <p:nvSpPr>
          <p:cNvPr id="28" name="Shape 69"/>
          <p:cNvSpPr/>
          <p:nvPr/>
        </p:nvSpPr>
        <p:spPr>
          <a:xfrm>
            <a:off x="7239000" y="1303328"/>
            <a:ext cx="1524000" cy="525363"/>
          </a:xfrm>
          <a:prstGeom prst="roundRect">
            <a:avLst>
              <a:gd name="adj" fmla="val 934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Box 71"/>
          <p:cNvSpPr/>
          <p:nvPr/>
        </p:nvSpPr>
        <p:spPr>
          <a:xfrm>
            <a:off x="7319503" y="1383831"/>
            <a:ext cx="1362995" cy="228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55"/>
              </a:lnSpc>
              <a:buNone/>
            </a:pPr>
            <a:r>
              <a:rPr lang="en-US" sz="1855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30M</a:t>
            </a:r>
            <a:endParaRPr lang="en-US" sz="1855" dirty="0"/>
          </a:p>
        </p:txBody>
      </p:sp>
      <p:sp>
        <p:nvSpPr>
          <p:cNvPr id="30" name="TextBox 73"/>
          <p:cNvSpPr/>
          <p:nvPr/>
        </p:nvSpPr>
        <p:spPr>
          <a:xfrm>
            <a:off x="7319503" y="1612417"/>
            <a:ext cx="136299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PYMEs en LATAM</a:t>
            </a:r>
            <a:endParaRPr lang="en-US" sz="734" dirty="0"/>
          </a:p>
        </p:txBody>
      </p:sp>
      <p:sp>
        <p:nvSpPr>
          <p:cNvPr id="31" name="Shape 76"/>
          <p:cNvSpPr/>
          <p:nvPr/>
        </p:nvSpPr>
        <p:spPr>
          <a:xfrm>
            <a:off x="7239000" y="1885788"/>
            <a:ext cx="1524000" cy="525363"/>
          </a:xfrm>
          <a:prstGeom prst="roundRect">
            <a:avLst>
              <a:gd name="adj" fmla="val 934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Box 78"/>
          <p:cNvSpPr/>
          <p:nvPr/>
        </p:nvSpPr>
        <p:spPr>
          <a:xfrm>
            <a:off x="7319503" y="1966290"/>
            <a:ext cx="1362995" cy="228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55"/>
              </a:lnSpc>
              <a:buNone/>
            </a:pPr>
            <a:r>
              <a:rPr lang="en-US" sz="1855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$15B</a:t>
            </a:r>
            <a:endParaRPr lang="en-US" sz="1855" dirty="0"/>
          </a:p>
        </p:txBody>
      </p:sp>
      <p:sp>
        <p:nvSpPr>
          <p:cNvPr id="33" name="TextBox 80"/>
          <p:cNvSpPr/>
          <p:nvPr/>
        </p:nvSpPr>
        <p:spPr>
          <a:xfrm>
            <a:off x="7319503" y="2194877"/>
            <a:ext cx="136299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TAM anual</a:t>
            </a:r>
            <a:endParaRPr lang="en-US" sz="734" dirty="0"/>
          </a:p>
        </p:txBody>
      </p:sp>
      <p:sp>
        <p:nvSpPr>
          <p:cNvPr id="34" name="Shape 83"/>
          <p:cNvSpPr/>
          <p:nvPr/>
        </p:nvSpPr>
        <p:spPr>
          <a:xfrm>
            <a:off x="7239000" y="2468247"/>
            <a:ext cx="1524000" cy="525363"/>
          </a:xfrm>
          <a:prstGeom prst="roundRect">
            <a:avLst>
              <a:gd name="adj" fmla="val 9342"/>
            </a:avLst>
          </a:prstGeom>
          <a:solidFill>
            <a:srgbClr val="FFFFFF">
              <a:alpha val="5000"/>
            </a:srgbClr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Box 85"/>
          <p:cNvSpPr/>
          <p:nvPr/>
        </p:nvSpPr>
        <p:spPr>
          <a:xfrm>
            <a:off x="7319503" y="2548749"/>
            <a:ext cx="1362995" cy="2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55"/>
              </a:lnSpc>
              <a:buNone/>
            </a:pPr>
            <a:r>
              <a:rPr lang="en-US" sz="1855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20M</a:t>
            </a:r>
            <a:endParaRPr lang="en-US" sz="1855" dirty="0"/>
          </a:p>
        </p:txBody>
      </p:sp>
      <p:sp>
        <p:nvSpPr>
          <p:cNvPr id="36" name="TextBox 87"/>
          <p:cNvSpPr/>
          <p:nvPr/>
        </p:nvSpPr>
        <p:spPr>
          <a:xfrm>
            <a:off x="7319503" y="2777336"/>
            <a:ext cx="136299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 (negocios cubiertos)</a:t>
            </a:r>
            <a:endParaRPr lang="en-US" sz="734" dirty="0"/>
          </a:p>
        </p:txBody>
      </p:sp>
      <p:sp>
        <p:nvSpPr>
          <p:cNvPr id="37" name="Shape 92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38" name="Picture 92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39" name="TextBox 94"/>
          <p:cNvSpPr/>
          <p:nvPr/>
        </p:nvSpPr>
        <p:spPr>
          <a:xfrm>
            <a:off x="476250" y="4741055"/>
            <a:ext cx="1993823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Fuente: INEGI, CEPAL, McKinsey LATAM 2023</a:t>
            </a:r>
            <a:endParaRPr lang="en-US" sz="734" dirty="0"/>
          </a:p>
        </p:txBody>
      </p:sp>
      <p:sp>
        <p:nvSpPr>
          <p:cNvPr id="40" name="TextBox 96"/>
          <p:cNvSpPr/>
          <p:nvPr/>
        </p:nvSpPr>
        <p:spPr>
          <a:xfrm>
            <a:off x="7085437" y="4741055"/>
            <a:ext cx="1582313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Baja penetración de software: &lt;30%</a:t>
            </a:r>
            <a:endParaRPr lang="en-US" sz="7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4" name="TextBox 4"/>
          <p:cNvSpPr/>
          <p:nvPr/>
        </p:nvSpPr>
        <p:spPr>
          <a:xfrm>
            <a:off x="476250" y="381000"/>
            <a:ext cx="81915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ROI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476250" y="573868"/>
            <a:ext cx="81915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 y Proyecciones</a:t>
            </a:r>
            <a:endParaRPr lang="en-US" sz="1855" dirty="0"/>
          </a:p>
        </p:txBody>
      </p:sp>
      <p:sp>
        <p:nvSpPr>
          <p:cNvPr id="6" name="TextBox 12"/>
          <p:cNvSpPr/>
          <p:nvPr/>
        </p:nvSpPr>
        <p:spPr>
          <a:xfrm>
            <a:off x="476250" y="950944"/>
            <a:ext cx="4019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ROI para el Cliente</a:t>
            </a:r>
            <a:endParaRPr lang="en-US" sz="1237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250" y="1217617"/>
          <a:ext cx="4019577" cy="914400"/>
        </p:xfrm>
        <a:graphic>
          <a:graphicData uri="http://schemas.openxmlformats.org/drawingml/2006/table">
            <a:tbl>
              <a:tblPr/>
              <a:tblGrid>
                <a:gridCol w="1637515"/>
                <a:gridCol w="1403585"/>
                <a:gridCol w="97847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Indicador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Antes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Después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Ventas no registradas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E74C3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15–30%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A6B4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&lt;2%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Tiempo cierre de caja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E74C3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30–60 min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A6B4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 min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Mermas inventario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E74C3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10–20%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A6B4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&lt;3%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Clientes perdidos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E74C3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20–40%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A6B4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&lt;5%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SaaS reemplazado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E74C3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$30–500/mes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A6B4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$0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16"/>
          <p:cNvSpPr/>
          <p:nvPr/>
        </p:nvSpPr>
        <p:spPr>
          <a:xfrm>
            <a:off x="476250" y="3333276"/>
            <a:ext cx="4019577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ROI típico: recupera inversión en 1–3 meses</a:t>
            </a:r>
            <a:endParaRPr lang="en-US" sz="734" dirty="0"/>
          </a:p>
        </p:txBody>
      </p:sp>
      <p:sp>
        <p:nvSpPr>
          <p:cNvPr id="9" name="TextBox 21"/>
          <p:cNvSpPr/>
          <p:nvPr/>
        </p:nvSpPr>
        <p:spPr>
          <a:xfrm>
            <a:off x="4648173" y="950944"/>
            <a:ext cx="40195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46"/>
              </a:lnSpc>
              <a:buNone/>
            </a:pPr>
            <a:r>
              <a:rPr lang="en-US" sz="1237" b="1" spc="-6" kern="0" dirty="0">
                <a:solidFill>
                  <a:srgbClr val="1E29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Proyección Revendedor</a:t>
            </a:r>
            <a:endParaRPr lang="en-US" sz="1237" dirty="0"/>
          </a:p>
        </p:txBody>
      </p:sp>
      <p:graphicFrame>
        <p:nvGraphicFramePr>
          <p:cNvPr id="29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8173" y="1217617"/>
          <a:ext cx="4019577" cy="914400"/>
        </p:xfrm>
        <a:graphic>
          <a:graphicData uri="http://schemas.openxmlformats.org/drawingml/2006/table">
            <a:tbl>
              <a:tblPr/>
              <a:tblGrid>
                <a:gridCol w="697936"/>
                <a:gridCol w="841149"/>
                <a:gridCol w="1192181"/>
                <a:gridCol w="128831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Periodo</a:t>
                      </a:r>
                      <a:endParaRPr lang="en-US" sz="773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Clientes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Ticket prom.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Ingreso/mes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923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Mes 1–3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3–5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$299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$897–1,495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Mes 4–6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5–10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$1,745–3,490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Mes 7–12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10–15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$399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$3,990–5,985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9"/>
                        </a:lnSpc>
                        <a:buNone/>
                      </a:pPr>
                      <a:r>
                        <a:rPr lang="en-US" sz="773" dirty="0">
                          <a:solidFill>
                            <a:srgbClr val="1E293B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Año 2</a:t>
                      </a:r>
                      <a:endParaRPr lang="en-US" sz="773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0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15–25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$449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07"/>
                        </a:lnSpc>
                        <a:buNone/>
                      </a:pPr>
                      <a:r>
                        <a:rPr lang="en-US" sz="1005" b="1" dirty="0">
                          <a:solidFill>
                            <a:srgbClr val="1E293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$6,735–11,225</a:t>
                      </a:r>
                      <a:endParaRPr lang="en-US" sz="1005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343" marR="88343" marT="78527" marB="78527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62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25"/>
          <p:cNvSpPr/>
          <p:nvPr/>
        </p:nvSpPr>
        <p:spPr>
          <a:xfrm>
            <a:off x="4648173" y="2990904"/>
            <a:ext cx="4019577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Meta: 10 ventas/mes → $3,500/mes → $42,000/año</a:t>
            </a:r>
            <a:endParaRPr lang="en-US" sz="734" dirty="0"/>
          </a:p>
        </p:txBody>
      </p:sp>
      <p:pic>
        <p:nvPicPr>
          <p:cNvPr id="12" name="Picture 29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173" y="3202849"/>
            <a:ext cx="1009731" cy="571500"/>
          </a:xfrm>
          <a:prstGeom prst="rect">
            <a:avLst/>
          </a:prstGeom>
        </p:spPr>
      </p:pic>
      <p:sp>
        <p:nvSpPr>
          <p:cNvPr id="13" name="Shape 34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14" name="Picture 34" descr="__type_imag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15" name="TextBox 36"/>
          <p:cNvSpPr/>
          <p:nvPr/>
        </p:nvSpPr>
        <p:spPr>
          <a:xfrm>
            <a:off x="476250" y="4741055"/>
            <a:ext cx="2955185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Proyección para inversor (2 años): $150K–$300K USD ingreso bruto</a:t>
            </a:r>
            <a:endParaRPr lang="en-US" sz="7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4"/>
          <p:cNvSpPr/>
          <p:nvPr/>
        </p:nvSpPr>
        <p:spPr>
          <a:xfrm>
            <a:off x="381000" y="285750"/>
            <a:ext cx="838200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59" kern="0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EJECUCIÓN</a:t>
            </a:r>
            <a:endParaRPr lang="en-US" sz="734" dirty="0"/>
          </a:p>
        </p:txBody>
      </p:sp>
      <p:sp>
        <p:nvSpPr>
          <p:cNvPr id="5" name="TextBox 6"/>
          <p:cNvSpPr/>
          <p:nvPr/>
        </p:nvSpPr>
        <p:spPr>
          <a:xfrm>
            <a:off x="381000" y="478618"/>
            <a:ext cx="8382000" cy="262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2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Roadmap Comercial</a:t>
            </a:r>
            <a:endParaRPr lang="en-US" sz="1855" dirty="0"/>
          </a:p>
        </p:txBody>
      </p:sp>
      <p:sp>
        <p:nvSpPr>
          <p:cNvPr id="6" name="TextBox 8"/>
          <p:cNvSpPr/>
          <p:nvPr/>
        </p:nvSpPr>
        <p:spPr>
          <a:xfrm>
            <a:off x="381000" y="817608"/>
            <a:ext cx="2857500" cy="314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fases para escalar de lanzamiento a franquicia certificada</a:t>
            </a:r>
            <a:endParaRPr lang="en-US" sz="850" dirty="0"/>
          </a:p>
        </p:txBody>
      </p:sp>
      <p:sp>
        <p:nvSpPr>
          <p:cNvPr id="7" name="Shape 12"/>
          <p:cNvSpPr/>
          <p:nvPr/>
        </p:nvSpPr>
        <p:spPr>
          <a:xfrm>
            <a:off x="381000" y="1284252"/>
            <a:ext cx="2009789" cy="156803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480580" y="1383831"/>
            <a:ext cx="1810629" cy="20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623" b="1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F1</a:t>
            </a:r>
            <a:endParaRPr lang="en-US" sz="1623" dirty="0"/>
          </a:p>
        </p:txBody>
      </p:sp>
      <p:sp>
        <p:nvSpPr>
          <p:cNvPr id="9" name="TextBox 16"/>
          <p:cNvSpPr/>
          <p:nvPr/>
        </p:nvSpPr>
        <p:spPr>
          <a:xfrm>
            <a:off x="480580" y="1621956"/>
            <a:ext cx="1810629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Lanzamiento</a:t>
            </a:r>
            <a:endParaRPr lang="en-US" sz="1005" dirty="0"/>
          </a:p>
        </p:txBody>
      </p:sp>
      <p:sp>
        <p:nvSpPr>
          <p:cNvPr id="10" name="TextBox 18"/>
          <p:cNvSpPr/>
          <p:nvPr/>
        </p:nvSpPr>
        <p:spPr>
          <a:xfrm>
            <a:off x="480580" y="1855278"/>
            <a:ext cx="181062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 1–3</a:t>
            </a:r>
            <a:endParaRPr lang="en-US" sz="734" dirty="0"/>
          </a:p>
        </p:txBody>
      </p:sp>
      <p:sp>
        <p:nvSpPr>
          <p:cNvPr id="11" name="TextBox 20"/>
          <p:cNvSpPr/>
          <p:nvPr/>
        </p:nvSpPr>
        <p:spPr>
          <a:xfrm>
            <a:off x="480580" y="2029136"/>
            <a:ext cx="1810629" cy="72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 14 apps + 8 verticales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Landing page profesional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3 casos de éxito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Video demo por vertical</a:t>
            </a:r>
            <a:endParaRPr lang="en-US" sz="773" dirty="0"/>
          </a:p>
        </p:txBody>
      </p:sp>
      <p:sp>
        <p:nvSpPr>
          <p:cNvPr id="12" name="Shape 23"/>
          <p:cNvSpPr/>
          <p:nvPr/>
        </p:nvSpPr>
        <p:spPr>
          <a:xfrm>
            <a:off x="2505048" y="1284252"/>
            <a:ext cx="2009789" cy="156803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Box 25"/>
          <p:cNvSpPr/>
          <p:nvPr/>
        </p:nvSpPr>
        <p:spPr>
          <a:xfrm>
            <a:off x="2604627" y="1383831"/>
            <a:ext cx="1810629" cy="20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623" b="1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F2</a:t>
            </a:r>
            <a:endParaRPr lang="en-US" sz="1623" dirty="0"/>
          </a:p>
        </p:txBody>
      </p:sp>
      <p:sp>
        <p:nvSpPr>
          <p:cNvPr id="14" name="TextBox 27"/>
          <p:cNvSpPr/>
          <p:nvPr/>
        </p:nvSpPr>
        <p:spPr>
          <a:xfrm>
            <a:off x="2604627" y="1621956"/>
            <a:ext cx="1810629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Crecimiento</a:t>
            </a:r>
            <a:endParaRPr lang="en-US" sz="1005" dirty="0"/>
          </a:p>
        </p:txBody>
      </p:sp>
      <p:sp>
        <p:nvSpPr>
          <p:cNvPr id="15" name="TextBox 29"/>
          <p:cNvSpPr/>
          <p:nvPr/>
        </p:nvSpPr>
        <p:spPr>
          <a:xfrm>
            <a:off x="2604627" y="1855278"/>
            <a:ext cx="181062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 4–6</a:t>
            </a:r>
            <a:endParaRPr lang="en-US" sz="734" dirty="0"/>
          </a:p>
        </p:txBody>
      </p:sp>
      <p:sp>
        <p:nvSpPr>
          <p:cNvPr id="16" name="TextBox 31"/>
          <p:cNvSpPr/>
          <p:nvPr/>
        </p:nvSpPr>
        <p:spPr>
          <a:xfrm>
            <a:off x="2604627" y="2029136"/>
            <a:ext cx="1810629" cy="72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5 revendedores México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Versión portugués (Brasil)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Pasarelas de pago locales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Marketplace de módulos</a:t>
            </a:r>
            <a:endParaRPr lang="en-US" sz="773" dirty="0"/>
          </a:p>
        </p:txBody>
      </p:sp>
      <p:sp>
        <p:nvSpPr>
          <p:cNvPr id="17" name="Shape 34"/>
          <p:cNvSpPr/>
          <p:nvPr/>
        </p:nvSpPr>
        <p:spPr>
          <a:xfrm>
            <a:off x="4629096" y="1284252"/>
            <a:ext cx="2009789" cy="156803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Box 36"/>
          <p:cNvSpPr/>
          <p:nvPr/>
        </p:nvSpPr>
        <p:spPr>
          <a:xfrm>
            <a:off x="4728676" y="1383831"/>
            <a:ext cx="1810629" cy="20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623" b="1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F3</a:t>
            </a:r>
            <a:endParaRPr lang="en-US" sz="1623" dirty="0"/>
          </a:p>
        </p:txBody>
      </p:sp>
      <p:sp>
        <p:nvSpPr>
          <p:cNvPr id="19" name="TextBox 38"/>
          <p:cNvSpPr/>
          <p:nvPr/>
        </p:nvSpPr>
        <p:spPr>
          <a:xfrm>
            <a:off x="4728676" y="1621956"/>
            <a:ext cx="1810629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Escalamiento</a:t>
            </a:r>
            <a:endParaRPr lang="en-US" sz="1005" dirty="0"/>
          </a:p>
        </p:txBody>
      </p:sp>
      <p:sp>
        <p:nvSpPr>
          <p:cNvPr id="20" name="TextBox 40"/>
          <p:cNvSpPr/>
          <p:nvPr/>
        </p:nvSpPr>
        <p:spPr>
          <a:xfrm>
            <a:off x="4728676" y="1855278"/>
            <a:ext cx="1810629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 7–12</a:t>
            </a:r>
            <a:endParaRPr lang="en-US" sz="734" dirty="0"/>
          </a:p>
        </p:txBody>
      </p:sp>
      <p:sp>
        <p:nvSpPr>
          <p:cNvPr id="21" name="TextBox 42"/>
          <p:cNvSpPr/>
          <p:nvPr/>
        </p:nvSpPr>
        <p:spPr>
          <a:xfrm>
            <a:off x="4728676" y="2029136"/>
            <a:ext cx="1810629" cy="685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20+ revendedores LATAM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Tienda + licenciamiento automático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Sync LAN local sin servidor</a:t>
            </a:r>
            <a:endParaRPr lang="en-US" sz="773" dirty="0"/>
          </a:p>
        </p:txBody>
      </p:sp>
      <p:sp>
        <p:nvSpPr>
          <p:cNvPr id="22" name="Shape 45"/>
          <p:cNvSpPr/>
          <p:nvPr/>
        </p:nvSpPr>
        <p:spPr>
          <a:xfrm>
            <a:off x="6753144" y="1284252"/>
            <a:ext cx="2009856" cy="1568039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4462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Box 47"/>
          <p:cNvSpPr/>
          <p:nvPr/>
        </p:nvSpPr>
        <p:spPr>
          <a:xfrm>
            <a:off x="6852724" y="1383831"/>
            <a:ext cx="1810697" cy="20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623" b="1" dirty="0">
                <a:solidFill>
                  <a:srgbClr val="1A6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F4</a:t>
            </a:r>
            <a:endParaRPr lang="en-US" sz="1623" dirty="0"/>
          </a:p>
        </p:txBody>
      </p:sp>
      <p:sp>
        <p:nvSpPr>
          <p:cNvPr id="24" name="TextBox 49"/>
          <p:cNvSpPr/>
          <p:nvPr/>
        </p:nvSpPr>
        <p:spPr>
          <a:xfrm>
            <a:off x="6852724" y="1621956"/>
            <a:ext cx="1810697" cy="18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0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Expansión</a:t>
            </a:r>
            <a:endParaRPr lang="en-US" sz="1005" dirty="0"/>
          </a:p>
        </p:txBody>
      </p:sp>
      <p:sp>
        <p:nvSpPr>
          <p:cNvPr id="25" name="TextBox 51"/>
          <p:cNvSpPr/>
          <p:nvPr/>
        </p:nvSpPr>
        <p:spPr>
          <a:xfrm>
            <a:off x="6852724" y="1855278"/>
            <a:ext cx="1810697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Año 2</a:t>
            </a:r>
            <a:endParaRPr lang="en-US" sz="734" dirty="0"/>
          </a:p>
        </p:txBody>
      </p:sp>
      <p:sp>
        <p:nvSpPr>
          <p:cNvPr id="26" name="TextBox 53"/>
          <p:cNvSpPr/>
          <p:nvPr/>
        </p:nvSpPr>
        <p:spPr>
          <a:xfrm>
            <a:off x="6852724" y="2029136"/>
            <a:ext cx="1810697" cy="72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50+ revendedores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Franquicia certificada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On-premise enterprise</a:t>
            </a:r>
            <a:endParaRPr lang="en-US" sz="773" dirty="0"/>
          </a:p>
          <a:p>
            <a:pPr algn="l" indent="0" marL="0">
              <a:lnSpc>
                <a:spcPts val="1159"/>
              </a:lnSpc>
              <a:buNone/>
            </a:pPr>
            <a:r>
              <a:rPr lang="en-US" sz="773" dirty="0">
                <a:solidFill>
                  <a:srgbClr val="1A6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</a:t>
            </a:r>
            <a:r>
              <a:rPr lang="en-US" sz="773" dirty="0">
                <a:solidFill>
                  <a:srgbClr val="5C5C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⬜ IA por vertical</a:t>
            </a:r>
            <a:endParaRPr lang="en-US" sz="773" dirty="0"/>
          </a:p>
        </p:txBody>
      </p:sp>
      <p:sp>
        <p:nvSpPr>
          <p:cNvPr id="27" name="Shape 57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28" name="Picture 5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29" name="TextBox 59"/>
          <p:cNvSpPr/>
          <p:nvPr/>
        </p:nvSpPr>
        <p:spPr>
          <a:xfrm>
            <a:off x="476250" y="4741055"/>
            <a:ext cx="3179307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Distribución: WhatsApp directo · Revendedores · Facebook · Boca a boca</a:t>
            </a:r>
            <a:endParaRPr lang="en-US" sz="73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4" name="TextBox 6"/>
          <p:cNvSpPr/>
          <p:nvPr/>
        </p:nvSpPr>
        <p:spPr>
          <a:xfrm>
            <a:off x="4100621" y="1275322"/>
            <a:ext cx="942624" cy="199971"/>
          </a:xfrm>
          <a:prstGeom prst="roundRect">
            <a:avLst>
              <a:gd name="adj" fmla="val 50000"/>
            </a:avLst>
          </a:prstGeom>
          <a:solidFill>
            <a:srgbClr val="1A6B4C">
              <a:alpha val="20000"/>
            </a:srgbClr>
          </a:solidFill>
          <a:ln/>
        </p:spPr>
        <p:txBody>
          <a:bodyPr wrap="square" lIns="88343" tIns="29448" rIns="88343" bIns="29448" rtlCol="0" anchor="t">
            <a:spAutoFit/>
          </a:bodyPr>
          <a:lstStyle/>
          <a:p>
            <a:pPr algn="ctr" indent="0" marL="0">
              <a:lnSpc>
                <a:spcPts val="1159"/>
              </a:lnSpc>
              <a:buNone/>
            </a:pPr>
            <a:r>
              <a:rPr lang="en-US" sz="773" spc="15" kern="0" dirty="0">
                <a:solidFill>
                  <a:srgbClr val="2ECC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Ateje Stack v2.0</a:t>
            </a:r>
            <a:endParaRPr lang="en-US" sz="773" dirty="0"/>
          </a:p>
        </p:txBody>
      </p:sp>
      <p:sp>
        <p:nvSpPr>
          <p:cNvPr id="5" name="TextBox 8"/>
          <p:cNvSpPr/>
          <p:nvPr/>
        </p:nvSpPr>
        <p:spPr>
          <a:xfrm>
            <a:off x="2623907" y="1551466"/>
            <a:ext cx="3896118" cy="82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339"/>
              </a:lnSpc>
              <a:buNone/>
            </a:pPr>
            <a:r>
              <a:rPr lang="en-US" sz="3092" b="1" spc="-62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Construyamos el futuro</a:t>
            </a:r>
            <a:endParaRPr lang="en-US" sz="3092" dirty="0"/>
          </a:p>
          <a:p>
            <a:pPr algn="ctr" indent="0" marL="0">
              <a:lnSpc>
                <a:spcPts val="3339"/>
              </a:lnSpc>
              <a:buNone/>
            </a:pPr>
            <a:r>
              <a:rPr lang="en-US" sz="3092" b="1" spc="-62" kern="0" dirty="0">
                <a:solidFill>
                  <a:srgbClr val="2ECC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software LATAM</a:t>
            </a:r>
            <a:endParaRPr lang="en-US" sz="3092" dirty="0"/>
          </a:p>
        </p:txBody>
      </p:sp>
      <p:sp>
        <p:nvSpPr>
          <p:cNvPr id="6" name="TextBox 10"/>
          <p:cNvSpPr/>
          <p:nvPr/>
        </p:nvSpPr>
        <p:spPr>
          <a:xfrm>
            <a:off x="3143182" y="2469600"/>
            <a:ext cx="2857500" cy="557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internet. Sin mensualidades. Sin vendor lock-in.</a:t>
            </a:r>
            <a:endParaRPr lang="en-US" sz="1005" dirty="0"/>
          </a:p>
          <a:p>
            <a:pPr algn="ctr" indent="0" marL="0">
              <a:lnSpc>
                <a:spcPts val="1507"/>
              </a:lnSpc>
              <a:buNone/>
            </a:pPr>
            <a:r>
              <a:rPr lang="en-US" sz="1005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Software que funciona donde más se necesita.</a:t>
            </a:r>
            <a:endParaRPr lang="en-US" sz="1005" dirty="0"/>
          </a:p>
        </p:txBody>
      </p:sp>
      <p:sp>
        <p:nvSpPr>
          <p:cNvPr id="7" name="TextBox 16"/>
          <p:cNvSpPr/>
          <p:nvPr/>
        </p:nvSpPr>
        <p:spPr>
          <a:xfrm>
            <a:off x="3488193" y="3179036"/>
            <a:ext cx="222430" cy="205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69"/>
              </a:lnSpc>
              <a:buNone/>
            </a:pPr>
            <a:r>
              <a:rPr lang="en-US" sz="1391" b="1" spc="-14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1391" dirty="0"/>
          </a:p>
        </p:txBody>
      </p:sp>
      <p:sp>
        <p:nvSpPr>
          <p:cNvPr id="8" name="TextBox 18"/>
          <p:cNvSpPr/>
          <p:nvPr/>
        </p:nvSpPr>
        <p:spPr>
          <a:xfrm>
            <a:off x="3488193" y="3384690"/>
            <a:ext cx="222430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Apps</a:t>
            </a:r>
            <a:endParaRPr lang="en-US" sz="734" dirty="0"/>
          </a:p>
        </p:txBody>
      </p:sp>
      <p:sp>
        <p:nvSpPr>
          <p:cNvPr id="9" name="Shape 21"/>
          <p:cNvSpPr/>
          <p:nvPr/>
        </p:nvSpPr>
        <p:spPr>
          <a:xfrm>
            <a:off x="3824883" y="3179036"/>
            <a:ext cx="4735" cy="3414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Box 25"/>
          <p:cNvSpPr/>
          <p:nvPr/>
        </p:nvSpPr>
        <p:spPr>
          <a:xfrm>
            <a:off x="3943878" y="3179036"/>
            <a:ext cx="432481" cy="205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69"/>
              </a:lnSpc>
              <a:buNone/>
            </a:pPr>
            <a:r>
              <a:rPr lang="en-US" sz="1391" b="1" spc="-14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391" dirty="0"/>
          </a:p>
        </p:txBody>
      </p:sp>
      <p:sp>
        <p:nvSpPr>
          <p:cNvPr id="11" name="TextBox 27"/>
          <p:cNvSpPr/>
          <p:nvPr/>
        </p:nvSpPr>
        <p:spPr>
          <a:xfrm>
            <a:off x="3943878" y="3384690"/>
            <a:ext cx="43248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Verticales</a:t>
            </a:r>
            <a:endParaRPr lang="en-US" sz="734" dirty="0"/>
          </a:p>
        </p:txBody>
      </p:sp>
      <p:sp>
        <p:nvSpPr>
          <p:cNvPr id="12" name="Shape 30"/>
          <p:cNvSpPr/>
          <p:nvPr/>
        </p:nvSpPr>
        <p:spPr>
          <a:xfrm>
            <a:off x="4490619" y="3179036"/>
            <a:ext cx="4735" cy="3414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Box 34"/>
          <p:cNvSpPr/>
          <p:nvPr/>
        </p:nvSpPr>
        <p:spPr>
          <a:xfrm>
            <a:off x="4609613" y="3179036"/>
            <a:ext cx="329248" cy="205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69"/>
              </a:lnSpc>
              <a:buNone/>
            </a:pPr>
            <a:r>
              <a:rPr lang="en-US" sz="1391" b="1" spc="-14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91" dirty="0"/>
          </a:p>
        </p:txBody>
      </p:sp>
      <p:sp>
        <p:nvSpPr>
          <p:cNvPr id="14" name="TextBox 36"/>
          <p:cNvSpPr/>
          <p:nvPr/>
        </p:nvSpPr>
        <p:spPr>
          <a:xfrm>
            <a:off x="4609613" y="3384690"/>
            <a:ext cx="329248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Perfiles</a:t>
            </a:r>
            <a:endParaRPr lang="en-US" sz="734" dirty="0"/>
          </a:p>
        </p:txBody>
      </p:sp>
      <p:sp>
        <p:nvSpPr>
          <p:cNvPr id="15" name="Shape 39"/>
          <p:cNvSpPr/>
          <p:nvPr/>
        </p:nvSpPr>
        <p:spPr>
          <a:xfrm>
            <a:off x="5053121" y="3179036"/>
            <a:ext cx="4736" cy="3414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Box 43"/>
          <p:cNvSpPr/>
          <p:nvPr/>
        </p:nvSpPr>
        <p:spPr>
          <a:xfrm>
            <a:off x="5172116" y="3179036"/>
            <a:ext cx="483624" cy="205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69"/>
              </a:lnSpc>
              <a:buNone/>
            </a:pPr>
            <a:r>
              <a:rPr lang="en-US" sz="1391" b="1" spc="-14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91" dirty="0"/>
          </a:p>
        </p:txBody>
      </p:sp>
      <p:sp>
        <p:nvSpPr>
          <p:cNvPr id="17" name="TextBox 45"/>
          <p:cNvSpPr/>
          <p:nvPr/>
        </p:nvSpPr>
        <p:spPr>
          <a:xfrm>
            <a:off x="5172116" y="3384690"/>
            <a:ext cx="483624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Pago único</a:t>
            </a:r>
            <a:endParaRPr lang="en-US" sz="734" dirty="0"/>
          </a:p>
        </p:txBody>
      </p:sp>
      <p:sp>
        <p:nvSpPr>
          <p:cNvPr id="18" name="TextBox 49"/>
          <p:cNvSpPr/>
          <p:nvPr/>
        </p:nvSpPr>
        <p:spPr>
          <a:xfrm>
            <a:off x="2623907" y="3710962"/>
            <a:ext cx="3896118" cy="157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850" spc="17" kern="0" dirty="0">
                <a:solidFill>
                  <a:srgbClr val="FFFFFF">
                    <a:alpha val="6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Angel Hernández Aguilera · </a:t>
            </a:r>
            <a:r>
              <a:rPr lang="en-US" sz="850" spc="17" kern="0" dirty="0">
                <a:solidFill>
                  <a:srgbClr val="2ECC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ahaguilera.dev</a:t>
            </a:r>
            <a:endParaRPr lang="en-US" sz="850" dirty="0"/>
          </a:p>
        </p:txBody>
      </p:sp>
      <p:sp>
        <p:nvSpPr>
          <p:cNvPr id="19" name="Shape 52"/>
          <p:cNvSpPr/>
          <p:nvPr/>
        </p:nvSpPr>
        <p:spPr>
          <a:xfrm>
            <a:off x="476250" y="4641476"/>
            <a:ext cx="8191500" cy="235352"/>
          </a:xfrm>
          <a:prstGeom prst="rect">
            <a:avLst/>
          </a:prstGeom>
          <a:noFill/>
          <a:ln/>
        </p:spPr>
      </p:sp>
      <p:pic>
        <p:nvPicPr>
          <p:cNvPr id="20" name="Picture 5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4641476"/>
            <a:ext cx="8191500" cy="235352"/>
          </a:xfrm>
          <a:prstGeom prst="rect">
            <a:avLst/>
          </a:prstGeom>
        </p:spPr>
      </p:pic>
      <p:sp>
        <p:nvSpPr>
          <p:cNvPr id="21" name="TextBox 54"/>
          <p:cNvSpPr/>
          <p:nvPr/>
        </p:nvSpPr>
        <p:spPr>
          <a:xfrm>
            <a:off x="476250" y="4741055"/>
            <a:ext cx="856641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© 2026 Ateje Stack</a:t>
            </a:r>
            <a:endParaRPr lang="en-US" sz="734" dirty="0"/>
          </a:p>
        </p:txBody>
      </p:sp>
      <p:sp>
        <p:nvSpPr>
          <p:cNvPr id="22" name="TextBox 56"/>
          <p:cNvSpPr/>
          <p:nvPr/>
        </p:nvSpPr>
        <p:spPr>
          <a:xfrm>
            <a:off x="8028804" y="4741055"/>
            <a:ext cx="638946" cy="13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34" spc="7" kern="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ahaguilera.dev</a:t>
            </a:r>
            <a:endParaRPr lang="en-US" sz="7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2026-07-14T07:23:26Z</dcterms:created>
  <dcterms:modified xsi:type="dcterms:W3CDTF">2026-07-14T07:23:26Z</dcterms:modified>
</cp:coreProperties>
</file>